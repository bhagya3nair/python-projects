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2" r:id="rId7"/>
    <p:sldId id="263" r:id="rId8"/>
    <p:sldId id="261" r:id="rId9"/>
    <p:sldId id="264" r:id="rId10"/>
    <p:sldId id="265" r:id="rId11"/>
    <p:sldId id="268" r:id="rId12"/>
    <p:sldId id="267" r:id="rId13"/>
    <p:sldId id="269" r:id="rId14"/>
    <p:sldId id="270" r:id="rId15"/>
    <p:sldId id="271" r:id="rId16"/>
    <p:sldId id="272" r:id="rId17"/>
    <p:sldId id="273" r:id="rId18"/>
    <p:sldId id="275" r:id="rId19"/>
    <p:sldId id="276" r:id="rId20"/>
    <p:sldId id="277" r:id="rId21"/>
    <p:sldId id="274" r:id="rId22"/>
    <p:sldId id="278" r:id="rId23"/>
    <p:sldId id="279" r:id="rId24"/>
    <p:sldId id="280" r:id="rId25"/>
    <p:sldId id="281" r:id="rId26"/>
    <p:sldId id="282" r:id="rId27"/>
    <p:sldId id="283"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1" d="100"/>
          <a:sy n="61" d="100"/>
        </p:scale>
        <p:origin x="22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2026-02-13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2026-02-13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2026-02-13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2026-02-13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2026-02-13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2026-02-13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2026-02-13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2026-02-13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2026-02-13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dirty="0"/>
              <a:pPr/>
              <a:t>2026-02-13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2026-02-13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2026-02-13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2026-02-13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2026-02-13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2026-02-13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2026-02-13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2026-02-13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61BEF0D-F0BB-DE4B-95CE-6DB70DBA9567}" type="datetimeFigureOut">
              <a:rPr lang="en-US" dirty="0"/>
              <a:pPr/>
              <a:t>2026-02-13</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68"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7B260-4B91-7995-46D6-115405F99BF1}"/>
              </a:ext>
            </a:extLst>
          </p:cNvPr>
          <p:cNvSpPr>
            <a:spLocks noGrp="1"/>
          </p:cNvSpPr>
          <p:nvPr>
            <p:ph type="ctrTitle"/>
          </p:nvPr>
        </p:nvSpPr>
        <p:spPr>
          <a:xfrm>
            <a:off x="985520" y="289559"/>
            <a:ext cx="10434320" cy="777241"/>
          </a:xfrm>
        </p:spPr>
        <p:txBody>
          <a:bodyPr>
            <a:normAutofit fontScale="90000"/>
          </a:bodyPr>
          <a:lstStyle/>
          <a:p>
            <a:pPr algn="ctr"/>
            <a:r>
              <a:rPr lang="en-US" b="1" u="sng" dirty="0">
                <a:solidFill>
                  <a:srgbClr val="7030A0"/>
                </a:solidFill>
                <a:latin typeface="Arial" panose="020B0604020202020204" pitchFamily="34" charset="0"/>
                <a:cs typeface="Arial" panose="020B0604020202020204" pitchFamily="34" charset="0"/>
              </a:rPr>
              <a:t>Twitter Stock Market Analysis </a:t>
            </a:r>
          </a:p>
        </p:txBody>
      </p:sp>
      <p:sp>
        <p:nvSpPr>
          <p:cNvPr id="3" name="Subtitle 2">
            <a:extLst>
              <a:ext uri="{FF2B5EF4-FFF2-40B4-BE49-F238E27FC236}">
                <a16:creationId xmlns:a16="http://schemas.microsoft.com/office/drawing/2014/main" id="{118D2B6C-07B0-0AA3-29DE-CF5E5727C147}"/>
              </a:ext>
            </a:extLst>
          </p:cNvPr>
          <p:cNvSpPr>
            <a:spLocks noGrp="1"/>
          </p:cNvSpPr>
          <p:nvPr>
            <p:ph type="subTitle" idx="1"/>
          </p:nvPr>
        </p:nvSpPr>
        <p:spPr>
          <a:xfrm>
            <a:off x="6390640" y="5256107"/>
            <a:ext cx="5388292" cy="667173"/>
          </a:xfrm>
        </p:spPr>
        <p:txBody>
          <a:bodyPr>
            <a:noAutofit/>
          </a:bodyPr>
          <a:lstStyle/>
          <a:p>
            <a:pPr algn="r"/>
            <a:r>
              <a:rPr lang="en-US" sz="4800" dirty="0">
                <a:solidFill>
                  <a:srgbClr val="FFFF00"/>
                </a:solidFill>
                <a:latin typeface="Arial" panose="020B0604020202020204" pitchFamily="34" charset="0"/>
                <a:cs typeface="Arial" panose="020B0604020202020204" pitchFamily="34" charset="0"/>
              </a:rPr>
              <a:t>- Bhagyalaxmi Nair</a:t>
            </a:r>
          </a:p>
        </p:txBody>
      </p:sp>
    </p:spTree>
    <p:extLst>
      <p:ext uri="{BB962C8B-B14F-4D97-AF65-F5344CB8AC3E}">
        <p14:creationId xmlns:p14="http://schemas.microsoft.com/office/powerpoint/2010/main" val="17408650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D018E-A273-BC8A-AFAC-7F38641962C7}"/>
              </a:ext>
            </a:extLst>
          </p:cNvPr>
          <p:cNvSpPr>
            <a:spLocks noGrp="1"/>
          </p:cNvSpPr>
          <p:nvPr>
            <p:ph type="ctrTitle"/>
          </p:nvPr>
        </p:nvSpPr>
        <p:spPr>
          <a:xfrm>
            <a:off x="2095500" y="421639"/>
            <a:ext cx="8001000" cy="716281"/>
          </a:xfrm>
        </p:spPr>
        <p:txBody>
          <a:bodyPr>
            <a:noAutofit/>
          </a:bodyPr>
          <a:lstStyle/>
          <a:p>
            <a:pPr algn="ctr"/>
            <a:r>
              <a:rPr lang="en-US" b="1" dirty="0">
                <a:solidFill>
                  <a:schemeClr val="accent1"/>
                </a:solidFill>
                <a:latin typeface="Arial" panose="020B0604020202020204" pitchFamily="34" charset="0"/>
                <a:cs typeface="Arial" panose="020B0604020202020204" pitchFamily="34" charset="0"/>
              </a:rPr>
              <a:t>Agenda</a:t>
            </a:r>
          </a:p>
        </p:txBody>
      </p:sp>
      <p:sp>
        <p:nvSpPr>
          <p:cNvPr id="3" name="Subtitle 2">
            <a:extLst>
              <a:ext uri="{FF2B5EF4-FFF2-40B4-BE49-F238E27FC236}">
                <a16:creationId xmlns:a16="http://schemas.microsoft.com/office/drawing/2014/main" id="{10622FC0-0034-B485-A021-CC6184DA3461}"/>
              </a:ext>
            </a:extLst>
          </p:cNvPr>
          <p:cNvSpPr>
            <a:spLocks noGrp="1"/>
          </p:cNvSpPr>
          <p:nvPr>
            <p:ph type="subTitle" idx="1"/>
          </p:nvPr>
        </p:nvSpPr>
        <p:spPr>
          <a:xfrm>
            <a:off x="714692" y="1334347"/>
            <a:ext cx="11060748" cy="5391573"/>
          </a:xfrm>
        </p:spPr>
        <p:txBody>
          <a:bodyPr>
            <a:noAutofit/>
          </a:bodyPr>
          <a:lstStyle/>
          <a:p>
            <a:pPr marL="28575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Introduction</a:t>
            </a:r>
          </a:p>
          <a:p>
            <a:pPr marL="28575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Dataset Description</a:t>
            </a:r>
          </a:p>
          <a:p>
            <a:pPr marL="28575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Objective</a:t>
            </a:r>
          </a:p>
          <a:p>
            <a:pPr marL="28575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Dataset Overview</a:t>
            </a:r>
          </a:p>
          <a:p>
            <a:pPr marL="28575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Tools &amp; Technologies</a:t>
            </a:r>
          </a:p>
          <a:p>
            <a:pPr marL="28575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Methodology</a:t>
            </a:r>
          </a:p>
          <a:p>
            <a:pPr marL="28575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Data Cleaning</a:t>
            </a:r>
          </a:p>
          <a:p>
            <a:pPr marL="28575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Statistical Analysis</a:t>
            </a:r>
          </a:p>
          <a:p>
            <a:pPr marL="28575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Observations</a:t>
            </a:r>
          </a:p>
          <a:p>
            <a:pPr marL="28575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Dashboard Concept</a:t>
            </a:r>
          </a:p>
          <a:p>
            <a:pPr marL="28575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Key Insights</a:t>
            </a:r>
          </a:p>
          <a:p>
            <a:pPr marL="28575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Future Scope</a:t>
            </a:r>
          </a:p>
          <a:p>
            <a:pPr marL="28575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Conclusion</a:t>
            </a:r>
          </a:p>
        </p:txBody>
      </p:sp>
      <p:pic>
        <p:nvPicPr>
          <p:cNvPr id="1026" name="Picture 2" descr="Twitter Icons in SVG, PNG, AI to Download">
            <a:extLst>
              <a:ext uri="{FF2B5EF4-FFF2-40B4-BE49-F238E27FC236}">
                <a16:creationId xmlns:a16="http://schemas.microsoft.com/office/drawing/2014/main" id="{F62965EB-C0D1-B105-9F96-F063A2A7B9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8560" y="2021524"/>
            <a:ext cx="3573780" cy="35737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55020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8A371-4937-3340-DF00-4B17BBA0AF57}"/>
              </a:ext>
            </a:extLst>
          </p:cNvPr>
          <p:cNvSpPr>
            <a:spLocks noGrp="1"/>
          </p:cNvSpPr>
          <p:nvPr>
            <p:ph type="ctrTitle"/>
          </p:nvPr>
        </p:nvSpPr>
        <p:spPr>
          <a:xfrm>
            <a:off x="1781492" y="370839"/>
            <a:ext cx="8001000" cy="960121"/>
          </a:xfrm>
        </p:spPr>
        <p:txBody>
          <a:bodyPr/>
          <a:lstStyle/>
          <a:p>
            <a:pPr algn="ctr"/>
            <a:r>
              <a:rPr lang="en-US" b="1" dirty="0">
                <a:solidFill>
                  <a:schemeClr val="accent1"/>
                </a:solidFill>
                <a:latin typeface="Arial" panose="020B0604020202020204" pitchFamily="34" charset="0"/>
                <a:cs typeface="Arial" panose="020B0604020202020204" pitchFamily="34" charset="0"/>
              </a:rPr>
              <a:t>Introduction</a:t>
            </a:r>
          </a:p>
        </p:txBody>
      </p:sp>
      <p:sp>
        <p:nvSpPr>
          <p:cNvPr id="3" name="Subtitle 2">
            <a:extLst>
              <a:ext uri="{FF2B5EF4-FFF2-40B4-BE49-F238E27FC236}">
                <a16:creationId xmlns:a16="http://schemas.microsoft.com/office/drawing/2014/main" id="{F9608D56-4AA4-90A9-4451-7EFBE68BEBA1}"/>
              </a:ext>
            </a:extLst>
          </p:cNvPr>
          <p:cNvSpPr>
            <a:spLocks noGrp="1"/>
          </p:cNvSpPr>
          <p:nvPr>
            <p:ph type="subTitle" idx="1"/>
          </p:nvPr>
        </p:nvSpPr>
        <p:spPr>
          <a:xfrm>
            <a:off x="684212" y="1598507"/>
            <a:ext cx="11243628" cy="4792133"/>
          </a:xfrm>
        </p:spPr>
        <p:txBody>
          <a:bodyPr>
            <a:normAutofit/>
          </a:bodyPr>
          <a:lstStyle/>
          <a:p>
            <a:r>
              <a:rPr lang="en-US" sz="1800" dirty="0">
                <a:solidFill>
                  <a:schemeClr val="bg1"/>
                </a:solidFill>
                <a:latin typeface="Arial" panose="020B0604020202020204" pitchFamily="34" charset="0"/>
                <a:cs typeface="Arial" panose="020B0604020202020204" pitchFamily="34" charset="0"/>
              </a:rPr>
              <a:t>This project analyzes the complete stock market journey of Twitter using historical stock data. The analysis covers trends, volatility, statistical testing, and visualization insights.This project analyzes the complete stock market journey of Twitter using historical stock data. The analysis covers trends, volatility, statistical testing, and visualization insights.This project analyzes the complete stock market journey of Twitter using historical stock data. The analysis covers trends, volatility, statistical testing, and visualization insights.This project analyzes the complete stock market journey of Twitter using historical stock data. The analysis covers trends, volatility, statistical testing, and visualization insights.</a:t>
            </a:r>
          </a:p>
          <a:p>
            <a:pPr marL="28575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Twitter is a global microblogging platform</a:t>
            </a:r>
          </a:p>
          <a:p>
            <a:pPr marL="28575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High user engagement but volatile stock performance</a:t>
            </a:r>
          </a:p>
          <a:p>
            <a:pPr marL="28575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Project focuses on historical stock market analysis</a:t>
            </a:r>
          </a:p>
          <a:p>
            <a:pPr marL="28575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Twitter stock market performance analysis</a:t>
            </a:r>
          </a:p>
          <a:p>
            <a:pPr marL="28575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Understanding trends before delisting</a:t>
            </a:r>
          </a:p>
          <a:p>
            <a:pPr marL="28575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Python-based exploratory data analysis</a:t>
            </a:r>
          </a:p>
          <a:p>
            <a:endParaRPr lang="en-US" sz="1800" dirty="0">
              <a:latin typeface="Arial" panose="020B0604020202020204" pitchFamily="34" charset="0"/>
              <a:cs typeface="Arial" panose="020B0604020202020204" pitchFamily="34" charset="0"/>
            </a:endParaRPr>
          </a:p>
        </p:txBody>
      </p:sp>
      <p:pic>
        <p:nvPicPr>
          <p:cNvPr id="2052" name="Picture 4" descr="Tweepy Tutorial, How to scrape data from Twitter using Python">
            <a:extLst>
              <a:ext uri="{FF2B5EF4-FFF2-40B4-BE49-F238E27FC236}">
                <a16:creationId xmlns:a16="http://schemas.microsoft.com/office/drawing/2014/main" id="{A2510648-4435-166C-EA31-F0281B99D5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5760" y="3994573"/>
            <a:ext cx="3821260" cy="19807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09542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D8820-66E6-CF73-A2DD-BABB0CC41309}"/>
              </a:ext>
            </a:extLst>
          </p:cNvPr>
          <p:cNvSpPr>
            <a:spLocks noGrp="1"/>
          </p:cNvSpPr>
          <p:nvPr>
            <p:ph type="ctrTitle"/>
          </p:nvPr>
        </p:nvSpPr>
        <p:spPr>
          <a:xfrm>
            <a:off x="1872932" y="457199"/>
            <a:ext cx="8001000" cy="812801"/>
          </a:xfrm>
        </p:spPr>
        <p:txBody>
          <a:bodyPr>
            <a:noAutofit/>
          </a:bodyPr>
          <a:lstStyle/>
          <a:p>
            <a:pPr algn="ctr"/>
            <a:r>
              <a:rPr lang="en-US" b="1" dirty="0">
                <a:solidFill>
                  <a:schemeClr val="accent1"/>
                </a:solidFill>
                <a:latin typeface="Arial" panose="020B0604020202020204" pitchFamily="34" charset="0"/>
                <a:cs typeface="Arial" panose="020B0604020202020204" pitchFamily="34" charset="0"/>
              </a:rPr>
              <a:t>Dataset Description</a:t>
            </a:r>
          </a:p>
        </p:txBody>
      </p:sp>
      <p:sp>
        <p:nvSpPr>
          <p:cNvPr id="3" name="Subtitle 2">
            <a:extLst>
              <a:ext uri="{FF2B5EF4-FFF2-40B4-BE49-F238E27FC236}">
                <a16:creationId xmlns:a16="http://schemas.microsoft.com/office/drawing/2014/main" id="{1949C138-4477-ED26-6F3D-6A0B773C7AE8}"/>
              </a:ext>
            </a:extLst>
          </p:cNvPr>
          <p:cNvSpPr>
            <a:spLocks noGrp="1"/>
          </p:cNvSpPr>
          <p:nvPr>
            <p:ph type="subTitle" idx="1"/>
          </p:nvPr>
        </p:nvSpPr>
        <p:spPr>
          <a:xfrm>
            <a:off x="545782" y="1842347"/>
            <a:ext cx="5550218" cy="4172373"/>
          </a:xfrm>
        </p:spPr>
        <p:txBody>
          <a:bodyPr>
            <a:normAutofit/>
          </a:bodyPr>
          <a:lstStyle/>
          <a:p>
            <a:r>
              <a:rPr lang="en-US" sz="1800" dirty="0">
                <a:solidFill>
                  <a:schemeClr val="bg1"/>
                </a:solidFill>
                <a:latin typeface="Arial" panose="020B0604020202020204" pitchFamily="34" charset="0"/>
                <a:cs typeface="Arial" panose="020B0604020202020204" pitchFamily="34" charset="0"/>
              </a:rPr>
              <a:t>The dataset contains Date, Open, High, Low, Close, Adjusted Close, and Volume fields representing daily stock performance. The dataset contains Date, Open, High, Low, Close, Adjusted Close, and Volume fields representing daily stock performance. The dataset contains Date, Open, High, Low, Close, Adjusted Close, and Volume fields representing daily stock performance. The dataset contains Date, Open, High, Low, Close, Adjusted Close, and Volume fields representing daily stock performance.</a:t>
            </a:r>
            <a:br>
              <a:rPr lang="en-US" sz="1800" dirty="0">
                <a:solidFill>
                  <a:schemeClr val="bg1"/>
                </a:solidFill>
                <a:latin typeface="Arial" panose="020B0604020202020204" pitchFamily="34" charset="0"/>
                <a:cs typeface="Arial" panose="020B0604020202020204" pitchFamily="34" charset="0"/>
              </a:rPr>
            </a:br>
            <a:endParaRPr lang="en-US" sz="1800" dirty="0">
              <a:solidFill>
                <a:schemeClr val="bg1"/>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0C225843-76FA-5F5F-944F-E8E52D10FD33}"/>
              </a:ext>
            </a:extLst>
          </p:cNvPr>
          <p:cNvPicPr>
            <a:picLocks noChangeAspect="1"/>
          </p:cNvPicPr>
          <p:nvPr/>
        </p:nvPicPr>
        <p:blipFill>
          <a:blip r:embed="rId2"/>
          <a:stretch>
            <a:fillRect/>
          </a:stretch>
        </p:blipFill>
        <p:spPr>
          <a:xfrm>
            <a:off x="6360160" y="2154228"/>
            <a:ext cx="5660514" cy="3515051"/>
          </a:xfrm>
          <a:prstGeom prst="rect">
            <a:avLst/>
          </a:prstGeom>
        </p:spPr>
      </p:pic>
    </p:spTree>
    <p:extLst>
      <p:ext uri="{BB962C8B-B14F-4D97-AF65-F5344CB8AC3E}">
        <p14:creationId xmlns:p14="http://schemas.microsoft.com/office/powerpoint/2010/main" val="3943386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9207C-098A-66E6-7BBD-F7F4790FF885}"/>
              </a:ext>
            </a:extLst>
          </p:cNvPr>
          <p:cNvSpPr>
            <a:spLocks noGrp="1"/>
          </p:cNvSpPr>
          <p:nvPr>
            <p:ph type="ctrTitle"/>
          </p:nvPr>
        </p:nvSpPr>
        <p:spPr>
          <a:xfrm>
            <a:off x="1883092" y="340359"/>
            <a:ext cx="8001000" cy="899161"/>
          </a:xfrm>
        </p:spPr>
        <p:txBody>
          <a:bodyPr/>
          <a:lstStyle/>
          <a:p>
            <a:pPr algn="ctr"/>
            <a:r>
              <a:rPr lang="en-US" b="1" dirty="0">
                <a:solidFill>
                  <a:schemeClr val="accent1"/>
                </a:solidFill>
                <a:latin typeface="Arial" panose="020B0604020202020204" pitchFamily="34" charset="0"/>
                <a:cs typeface="Arial" panose="020B0604020202020204" pitchFamily="34" charset="0"/>
              </a:rPr>
              <a:t>Objective</a:t>
            </a:r>
          </a:p>
        </p:txBody>
      </p:sp>
      <p:sp>
        <p:nvSpPr>
          <p:cNvPr id="3" name="Subtitle 2">
            <a:extLst>
              <a:ext uri="{FF2B5EF4-FFF2-40B4-BE49-F238E27FC236}">
                <a16:creationId xmlns:a16="http://schemas.microsoft.com/office/drawing/2014/main" id="{5DF7B741-B286-1B51-28D5-FF923798B347}"/>
              </a:ext>
            </a:extLst>
          </p:cNvPr>
          <p:cNvSpPr>
            <a:spLocks noGrp="1"/>
          </p:cNvSpPr>
          <p:nvPr>
            <p:ph type="subTitle" idx="1"/>
          </p:nvPr>
        </p:nvSpPr>
        <p:spPr>
          <a:xfrm>
            <a:off x="1038066" y="1984587"/>
            <a:ext cx="10300494" cy="3298613"/>
          </a:xfrm>
        </p:spPr>
        <p:txBody>
          <a:bodyPr>
            <a:normAutofit lnSpcReduction="10000"/>
          </a:bodyPr>
          <a:lstStyle/>
          <a:p>
            <a:r>
              <a:rPr lang="en-US" sz="1800" dirty="0">
                <a:solidFill>
                  <a:schemeClr val="bg1"/>
                </a:solidFill>
                <a:latin typeface="Arial" panose="020B0604020202020204" pitchFamily="34" charset="0"/>
                <a:cs typeface="Arial" panose="020B0604020202020204" pitchFamily="34" charset="0"/>
              </a:rPr>
              <a:t>To understand Twitter's stock behavior, identify trends, perform statistical tests, and derive meaningful insights.To understand Twitter's stock behavior, identify trends, perform statistical tests, and derive meaningful insights.To understand Twitter's stock behavior, identify trends, perform statistical tests, and derive meaningful insights.To understand Twitter's stock behavior, identify trends, perform statistical tests, and derive meaningful insights.</a:t>
            </a:r>
          </a:p>
          <a:p>
            <a:pPr marL="342900" indent="-342900">
              <a:buFont typeface="Arial" panose="020B0604020202020204" pitchFamily="34" charset="0"/>
              <a:buChar char="•"/>
            </a:pPr>
            <a:r>
              <a:rPr lang="en-US" sz="1900" dirty="0">
                <a:solidFill>
                  <a:schemeClr val="bg1"/>
                </a:solidFill>
                <a:latin typeface="Arial" panose="020B0604020202020204" pitchFamily="34" charset="0"/>
                <a:cs typeface="Arial" panose="020B0604020202020204" pitchFamily="34" charset="0"/>
              </a:rPr>
              <a:t>Understand stock price movements</a:t>
            </a:r>
          </a:p>
          <a:p>
            <a:pPr marL="342900" indent="-342900">
              <a:buFont typeface="Arial" panose="020B0604020202020204" pitchFamily="34" charset="0"/>
              <a:buChar char="•"/>
            </a:pPr>
            <a:r>
              <a:rPr lang="en-US" sz="1900" dirty="0">
                <a:solidFill>
                  <a:schemeClr val="bg1"/>
                </a:solidFill>
                <a:latin typeface="Arial" panose="020B0604020202020204" pitchFamily="34" charset="0"/>
                <a:cs typeface="Arial" panose="020B0604020202020204" pitchFamily="34" charset="0"/>
              </a:rPr>
              <a:t>Perform statistical and visual analysis</a:t>
            </a:r>
          </a:p>
          <a:p>
            <a:pPr marL="342900" indent="-342900">
              <a:buFont typeface="Arial" panose="020B0604020202020204" pitchFamily="34" charset="0"/>
              <a:buChar char="•"/>
            </a:pPr>
            <a:r>
              <a:rPr lang="en-US" sz="1900" dirty="0">
                <a:solidFill>
                  <a:schemeClr val="bg1"/>
                </a:solidFill>
                <a:latin typeface="Arial" panose="020B0604020202020204" pitchFamily="34" charset="0"/>
                <a:cs typeface="Arial" panose="020B0604020202020204" pitchFamily="34" charset="0"/>
              </a:rPr>
              <a:t>Derive meaningful insights for decision-making</a:t>
            </a:r>
          </a:p>
          <a:p>
            <a:br>
              <a:rPr lang="en-US" sz="1800" dirty="0">
                <a:solidFill>
                  <a:schemeClr val="bg1"/>
                </a:solidFill>
                <a:latin typeface="Arial" panose="020B0604020202020204" pitchFamily="34" charset="0"/>
                <a:cs typeface="Arial" panose="020B0604020202020204" pitchFamily="34" charset="0"/>
              </a:rPr>
            </a:br>
            <a:endParaRPr lang="en-US" sz="18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468702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C21F8-6189-69BB-B629-2376C9BAB5CB}"/>
              </a:ext>
            </a:extLst>
          </p:cNvPr>
          <p:cNvSpPr>
            <a:spLocks noGrp="1"/>
          </p:cNvSpPr>
          <p:nvPr>
            <p:ph type="ctrTitle"/>
          </p:nvPr>
        </p:nvSpPr>
        <p:spPr>
          <a:xfrm>
            <a:off x="1944052" y="309879"/>
            <a:ext cx="8001000" cy="949961"/>
          </a:xfrm>
        </p:spPr>
        <p:txBody>
          <a:bodyPr/>
          <a:lstStyle/>
          <a:p>
            <a:pPr algn="ctr"/>
            <a:r>
              <a:rPr lang="en-US" b="1" dirty="0">
                <a:solidFill>
                  <a:schemeClr val="accent1"/>
                </a:solidFill>
                <a:latin typeface="Arial" panose="020B0604020202020204" pitchFamily="34" charset="0"/>
                <a:cs typeface="Arial" panose="020B0604020202020204" pitchFamily="34" charset="0"/>
              </a:rPr>
              <a:t>Dataset Overview</a:t>
            </a:r>
          </a:p>
        </p:txBody>
      </p:sp>
      <p:sp>
        <p:nvSpPr>
          <p:cNvPr id="3" name="Subtitle 2">
            <a:extLst>
              <a:ext uri="{FF2B5EF4-FFF2-40B4-BE49-F238E27FC236}">
                <a16:creationId xmlns:a16="http://schemas.microsoft.com/office/drawing/2014/main" id="{44FA647B-4CFC-D349-FEA5-D32861255876}"/>
              </a:ext>
            </a:extLst>
          </p:cNvPr>
          <p:cNvSpPr>
            <a:spLocks noGrp="1"/>
          </p:cNvSpPr>
          <p:nvPr>
            <p:ph type="subTitle" idx="1"/>
          </p:nvPr>
        </p:nvSpPr>
        <p:spPr>
          <a:xfrm>
            <a:off x="1425892" y="2025227"/>
            <a:ext cx="8927148" cy="3522133"/>
          </a:xfrm>
        </p:spPr>
        <p:txBody>
          <a:bodyPr/>
          <a:lstStyle/>
          <a:p>
            <a:pPr marL="28575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Historical Twitter stock market data</a:t>
            </a:r>
          </a:p>
          <a:p>
            <a:pPr marL="28575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Attributes: Date, Open, High, Low, Close, Adj Close, Volume</a:t>
            </a:r>
          </a:p>
          <a:p>
            <a:pPr marL="28575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Records: 2264</a:t>
            </a:r>
          </a:p>
          <a:p>
            <a:r>
              <a:rPr lang="en-US" sz="1800" dirty="0">
                <a:solidFill>
                  <a:schemeClr val="bg1"/>
                </a:solidFill>
                <a:latin typeface="Arial" panose="020B0604020202020204" pitchFamily="34" charset="0"/>
                <a:cs typeface="Arial" panose="020B0604020202020204" pitchFamily="34" charset="0"/>
              </a:rPr>
              <a:t>The dataset was loaded using Pandas and the Date column was converted to datetime format. The dataset was loaded using Pandas and the Date column was converted to datetime format. The dataset was loaded using Pandas and the Date column was converted to datetime format. The dataset was loaded using Pandas and the Date column was converted to datetime format.</a:t>
            </a:r>
          </a:p>
          <a:p>
            <a:endParaRPr lang="en-US" sz="1800" dirty="0">
              <a:solidFill>
                <a:schemeClr val="bg1"/>
              </a:solidFill>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201042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ECE0D-0A7F-865A-94B4-5FE52B50FF85}"/>
              </a:ext>
            </a:extLst>
          </p:cNvPr>
          <p:cNvSpPr>
            <a:spLocks noGrp="1"/>
          </p:cNvSpPr>
          <p:nvPr>
            <p:ph type="ctrTitle"/>
          </p:nvPr>
        </p:nvSpPr>
        <p:spPr>
          <a:xfrm>
            <a:off x="2095500" y="457199"/>
            <a:ext cx="8001000" cy="873761"/>
          </a:xfrm>
        </p:spPr>
        <p:txBody>
          <a:bodyPr/>
          <a:lstStyle/>
          <a:p>
            <a:pPr algn="ctr"/>
            <a:r>
              <a:rPr lang="en-US" b="1" dirty="0">
                <a:solidFill>
                  <a:schemeClr val="accent1"/>
                </a:solidFill>
                <a:latin typeface="Arial" panose="020B0604020202020204" pitchFamily="34" charset="0"/>
                <a:cs typeface="Arial" panose="020B0604020202020204" pitchFamily="34" charset="0"/>
              </a:rPr>
              <a:t>Tools &amp; Technologies</a:t>
            </a:r>
          </a:p>
        </p:txBody>
      </p:sp>
      <p:sp>
        <p:nvSpPr>
          <p:cNvPr id="3" name="Subtitle 2">
            <a:extLst>
              <a:ext uri="{FF2B5EF4-FFF2-40B4-BE49-F238E27FC236}">
                <a16:creationId xmlns:a16="http://schemas.microsoft.com/office/drawing/2014/main" id="{14F7F4E6-BBB8-25ED-A2EA-2A6AFE1FCC9C}"/>
              </a:ext>
            </a:extLst>
          </p:cNvPr>
          <p:cNvSpPr>
            <a:spLocks noGrp="1"/>
          </p:cNvSpPr>
          <p:nvPr>
            <p:ph type="subTitle" idx="1"/>
          </p:nvPr>
        </p:nvSpPr>
        <p:spPr>
          <a:xfrm>
            <a:off x="1468120" y="2177627"/>
            <a:ext cx="8520748" cy="3390053"/>
          </a:xfrm>
        </p:spPr>
        <p:txBody>
          <a:bodyPr/>
          <a:lstStyle/>
          <a:p>
            <a:pPr marL="342900" indent="-34290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Python Programming Language</a:t>
            </a:r>
          </a:p>
          <a:p>
            <a:pPr marL="342900" indent="-34290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Google Colab</a:t>
            </a:r>
          </a:p>
          <a:p>
            <a:pPr marL="342900" indent="-34290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Pandas, NumPy</a:t>
            </a:r>
          </a:p>
          <a:p>
            <a:pPr marL="342900" indent="-34290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Matplotlib, Seaborn</a:t>
            </a:r>
          </a:p>
          <a:p>
            <a:endParaRPr lang="en-US" dirty="0"/>
          </a:p>
        </p:txBody>
      </p:sp>
    </p:spTree>
    <p:extLst>
      <p:ext uri="{BB962C8B-B14F-4D97-AF65-F5344CB8AC3E}">
        <p14:creationId xmlns:p14="http://schemas.microsoft.com/office/powerpoint/2010/main" val="4677995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39AC5-B2F0-E470-1CAC-785D12E83C96}"/>
              </a:ext>
            </a:extLst>
          </p:cNvPr>
          <p:cNvSpPr>
            <a:spLocks noGrp="1"/>
          </p:cNvSpPr>
          <p:nvPr>
            <p:ph type="ctrTitle"/>
          </p:nvPr>
        </p:nvSpPr>
        <p:spPr>
          <a:xfrm>
            <a:off x="2095500" y="330199"/>
            <a:ext cx="8001000" cy="1061721"/>
          </a:xfrm>
        </p:spPr>
        <p:txBody>
          <a:bodyPr/>
          <a:lstStyle/>
          <a:p>
            <a:pPr algn="ctr"/>
            <a:r>
              <a:rPr lang="en-US" b="1" dirty="0">
                <a:solidFill>
                  <a:schemeClr val="accent1"/>
                </a:solidFill>
                <a:latin typeface="Arial" panose="020B0604020202020204" pitchFamily="34" charset="0"/>
                <a:cs typeface="Arial" panose="020B0604020202020204" pitchFamily="34" charset="0"/>
              </a:rPr>
              <a:t>Methodology</a:t>
            </a:r>
          </a:p>
        </p:txBody>
      </p:sp>
      <p:sp>
        <p:nvSpPr>
          <p:cNvPr id="3" name="Subtitle 2">
            <a:extLst>
              <a:ext uri="{FF2B5EF4-FFF2-40B4-BE49-F238E27FC236}">
                <a16:creationId xmlns:a16="http://schemas.microsoft.com/office/drawing/2014/main" id="{3C5DA99A-4518-E70B-7624-1CFC98D9824F}"/>
              </a:ext>
            </a:extLst>
          </p:cNvPr>
          <p:cNvSpPr>
            <a:spLocks noGrp="1"/>
          </p:cNvSpPr>
          <p:nvPr>
            <p:ph type="subTitle" idx="1"/>
          </p:nvPr>
        </p:nvSpPr>
        <p:spPr>
          <a:xfrm>
            <a:off x="1043146" y="1984587"/>
            <a:ext cx="10112534" cy="3959013"/>
          </a:xfrm>
        </p:spPr>
        <p:txBody>
          <a:bodyPr>
            <a:normAutofit/>
          </a:bodyPr>
          <a:lstStyle/>
          <a:p>
            <a:r>
              <a:rPr lang="en-US" sz="1800" dirty="0">
                <a:solidFill>
                  <a:schemeClr val="bg1"/>
                </a:solidFill>
                <a:latin typeface="Arial" panose="020B0604020202020204" pitchFamily="34" charset="0"/>
                <a:cs typeface="Arial" panose="020B0604020202020204" pitchFamily="34" charset="0"/>
              </a:rPr>
              <a:t>Python libraries such as Pandas, NumPy, Matplotlib, Seaborn, Plotly, and SciPy were used in Google Colab. Python libraries such as Pandas, NumPy, Matplotlib, Seaborn, Plotly, and SciPy were used in Google Colab. Python libraries such as Pandas, NumPy, Matplotlib, Seaborn, Plotly, and SciPy were used in Google Colab. Python libraries such as Pandas, NumPy, Matplotlib, Seaborn, Plotly, and SciPy were used in Google Colab.</a:t>
            </a:r>
          </a:p>
          <a:p>
            <a:pPr marL="28575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Data loading and inspection</a:t>
            </a:r>
          </a:p>
          <a:p>
            <a:pPr marL="28575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Data cleaning and preprocessing</a:t>
            </a:r>
          </a:p>
          <a:p>
            <a:pPr marL="28575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Exploratory data analysis</a:t>
            </a:r>
          </a:p>
          <a:p>
            <a:pPr marL="28575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Visualization and interpretation</a:t>
            </a:r>
          </a:p>
          <a:p>
            <a:endParaRPr lang="en-US" dirty="0"/>
          </a:p>
          <a:p>
            <a:endParaRPr lang="en-US" dirty="0"/>
          </a:p>
        </p:txBody>
      </p:sp>
    </p:spTree>
    <p:extLst>
      <p:ext uri="{BB962C8B-B14F-4D97-AF65-F5344CB8AC3E}">
        <p14:creationId xmlns:p14="http://schemas.microsoft.com/office/powerpoint/2010/main" val="41348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2B72A-F342-E928-4569-7C73FB93A0A2}"/>
              </a:ext>
            </a:extLst>
          </p:cNvPr>
          <p:cNvSpPr>
            <a:spLocks noGrp="1"/>
          </p:cNvSpPr>
          <p:nvPr>
            <p:ph type="ctrTitle"/>
          </p:nvPr>
        </p:nvSpPr>
        <p:spPr>
          <a:xfrm>
            <a:off x="1994852" y="375919"/>
            <a:ext cx="8001000" cy="711201"/>
          </a:xfrm>
        </p:spPr>
        <p:txBody>
          <a:bodyPr>
            <a:noAutofit/>
          </a:bodyPr>
          <a:lstStyle/>
          <a:p>
            <a:pPr algn="ctr"/>
            <a:r>
              <a:rPr lang="en-US" b="1" dirty="0">
                <a:solidFill>
                  <a:schemeClr val="accent1"/>
                </a:solidFill>
                <a:latin typeface="Arial" panose="020B0604020202020204" pitchFamily="34" charset="0"/>
                <a:cs typeface="Arial" panose="020B0604020202020204" pitchFamily="34" charset="0"/>
              </a:rPr>
              <a:t>Data Cleaning</a:t>
            </a:r>
          </a:p>
        </p:txBody>
      </p:sp>
      <p:sp>
        <p:nvSpPr>
          <p:cNvPr id="3" name="Subtitle 2">
            <a:extLst>
              <a:ext uri="{FF2B5EF4-FFF2-40B4-BE49-F238E27FC236}">
                <a16:creationId xmlns:a16="http://schemas.microsoft.com/office/drawing/2014/main" id="{8ED7C639-2B17-F190-377C-C4A5BF603790}"/>
              </a:ext>
            </a:extLst>
          </p:cNvPr>
          <p:cNvSpPr>
            <a:spLocks noGrp="1"/>
          </p:cNvSpPr>
          <p:nvPr>
            <p:ph type="subTitle" idx="1"/>
          </p:nvPr>
        </p:nvSpPr>
        <p:spPr>
          <a:xfrm>
            <a:off x="1314132" y="2069253"/>
            <a:ext cx="9191308" cy="3335867"/>
          </a:xfrm>
        </p:spPr>
        <p:txBody>
          <a:bodyPr/>
          <a:lstStyle/>
          <a:p>
            <a:pPr marL="342900" indent="-342900">
              <a:buFont typeface="Arial" panose="020B0604020202020204" pitchFamily="34" charset="0"/>
              <a:buChar char="•"/>
            </a:pPr>
            <a:r>
              <a:rPr lang="en-US" dirty="0">
                <a:solidFill>
                  <a:schemeClr val="bg1"/>
                </a:solidFill>
                <a:latin typeface="Arial" panose="020B0604020202020204" pitchFamily="34" charset="0"/>
                <a:cs typeface="Arial" panose="020B0604020202020204" pitchFamily="34" charset="0"/>
              </a:rPr>
              <a:t>Checked for missing/null values</a:t>
            </a:r>
          </a:p>
          <a:p>
            <a:pPr marL="342900" indent="-342900">
              <a:buFont typeface="Arial" panose="020B0604020202020204" pitchFamily="34" charset="0"/>
              <a:buChar char="•"/>
            </a:pPr>
            <a:r>
              <a:rPr lang="en-US" dirty="0">
                <a:solidFill>
                  <a:schemeClr val="bg1"/>
                </a:solidFill>
                <a:latin typeface="Arial" panose="020B0604020202020204" pitchFamily="34" charset="0"/>
                <a:cs typeface="Arial" panose="020B0604020202020204" pitchFamily="34" charset="0"/>
              </a:rPr>
              <a:t>Ensured proper date formatting</a:t>
            </a:r>
          </a:p>
          <a:p>
            <a:pPr marL="342900" indent="-342900">
              <a:buFont typeface="Arial" panose="020B0604020202020204" pitchFamily="34" charset="0"/>
              <a:buChar char="•"/>
            </a:pPr>
            <a:r>
              <a:rPr lang="en-US" dirty="0">
                <a:solidFill>
                  <a:schemeClr val="bg1"/>
                </a:solidFill>
                <a:latin typeface="Arial" panose="020B0604020202020204" pitchFamily="34" charset="0"/>
                <a:cs typeface="Arial" panose="020B0604020202020204" pitchFamily="34" charset="0"/>
              </a:rPr>
              <a:t>Sorted dataset chronologically</a:t>
            </a:r>
          </a:p>
          <a:p>
            <a:endParaRPr lang="en-US" dirty="0"/>
          </a:p>
        </p:txBody>
      </p:sp>
    </p:spTree>
    <p:extLst>
      <p:ext uri="{BB962C8B-B14F-4D97-AF65-F5344CB8AC3E}">
        <p14:creationId xmlns:p14="http://schemas.microsoft.com/office/powerpoint/2010/main" val="9853313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0209B-06B0-A466-F36E-C9C021EEA358}"/>
              </a:ext>
            </a:extLst>
          </p:cNvPr>
          <p:cNvSpPr>
            <a:spLocks noGrp="1"/>
          </p:cNvSpPr>
          <p:nvPr>
            <p:ph type="ctrTitle"/>
          </p:nvPr>
        </p:nvSpPr>
        <p:spPr>
          <a:xfrm>
            <a:off x="2258060" y="434339"/>
            <a:ext cx="8001000" cy="736601"/>
          </a:xfrm>
        </p:spPr>
        <p:txBody>
          <a:bodyPr>
            <a:noAutofit/>
          </a:bodyPr>
          <a:lstStyle/>
          <a:p>
            <a:pPr algn="ctr"/>
            <a:r>
              <a:rPr lang="en-US" b="1" dirty="0">
                <a:solidFill>
                  <a:schemeClr val="accent1"/>
                </a:solidFill>
                <a:latin typeface="Arial" panose="020B0604020202020204" pitchFamily="34" charset="0"/>
                <a:cs typeface="Arial" panose="020B0604020202020204" pitchFamily="34" charset="0"/>
              </a:rPr>
              <a:t>Statistical Analysis</a:t>
            </a:r>
          </a:p>
        </p:txBody>
      </p:sp>
      <p:sp>
        <p:nvSpPr>
          <p:cNvPr id="3" name="Subtitle 2">
            <a:extLst>
              <a:ext uri="{FF2B5EF4-FFF2-40B4-BE49-F238E27FC236}">
                <a16:creationId xmlns:a16="http://schemas.microsoft.com/office/drawing/2014/main" id="{F2D65CB2-BD00-D5C7-B5C3-250917FA329A}"/>
              </a:ext>
            </a:extLst>
          </p:cNvPr>
          <p:cNvSpPr>
            <a:spLocks noGrp="1"/>
          </p:cNvSpPr>
          <p:nvPr>
            <p:ph type="subTitle" idx="1"/>
          </p:nvPr>
        </p:nvSpPr>
        <p:spPr>
          <a:xfrm>
            <a:off x="1195546" y="2120053"/>
            <a:ext cx="9800908" cy="3366347"/>
          </a:xfrm>
        </p:spPr>
        <p:txBody>
          <a:bodyPr/>
          <a:lstStyle/>
          <a:p>
            <a:r>
              <a:rPr lang="en-US" sz="1800" dirty="0">
                <a:solidFill>
                  <a:schemeClr val="bg1"/>
                </a:solidFill>
                <a:latin typeface="Arial" panose="020B0604020202020204" pitchFamily="34" charset="0"/>
                <a:cs typeface="Arial" panose="020B0604020202020204" pitchFamily="34" charset="0"/>
              </a:rPr>
              <a:t>Initial inspection involved viewing top rows, understanding data types, and structure. Initial inspection involved viewing top rows, understanding data types, and structure. Initial inspection involved viewing top rows, understanding data types, and structure. Initial inspection involved viewing top rows, understanding data types, and structure.</a:t>
            </a:r>
          </a:p>
          <a:p>
            <a:pPr marL="28575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Calculated mean, median, standard deviation</a:t>
            </a:r>
          </a:p>
          <a:p>
            <a:pPr marL="28575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Helped understand data distribution and volatility</a:t>
            </a:r>
          </a:p>
          <a:p>
            <a:endParaRPr lang="en-US" dirty="0"/>
          </a:p>
        </p:txBody>
      </p:sp>
    </p:spTree>
    <p:extLst>
      <p:ext uri="{BB962C8B-B14F-4D97-AF65-F5344CB8AC3E}">
        <p14:creationId xmlns:p14="http://schemas.microsoft.com/office/powerpoint/2010/main" val="39734310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8D0A3-B2C8-D871-8F31-B8D2116B3BF1}"/>
              </a:ext>
            </a:extLst>
          </p:cNvPr>
          <p:cNvSpPr>
            <a:spLocks noGrp="1"/>
          </p:cNvSpPr>
          <p:nvPr>
            <p:ph type="title"/>
          </p:nvPr>
        </p:nvSpPr>
        <p:spPr>
          <a:xfrm>
            <a:off x="2123440" y="311572"/>
            <a:ext cx="8534400" cy="1446107"/>
          </a:xfrm>
        </p:spPr>
        <p:txBody>
          <a:bodyPr>
            <a:noAutofit/>
          </a:bodyPr>
          <a:lstStyle/>
          <a:p>
            <a:pPr algn="ctr"/>
            <a:r>
              <a:rPr lang="en-US" sz="4800" b="1" dirty="0">
                <a:solidFill>
                  <a:schemeClr val="accent1"/>
                </a:solidFill>
                <a:latin typeface="Arial" panose="020B0604020202020204" pitchFamily="34" charset="0"/>
                <a:cs typeface="Arial" panose="020B0604020202020204" pitchFamily="34" charset="0"/>
              </a:rPr>
              <a:t>Close Price Trend Analysis</a:t>
            </a:r>
            <a:endParaRPr lang="en-US" sz="4800" dirty="0"/>
          </a:p>
        </p:txBody>
      </p:sp>
      <p:pic>
        <p:nvPicPr>
          <p:cNvPr id="3" name="Picture 2" descr="close_trend.png">
            <a:extLst>
              <a:ext uri="{FF2B5EF4-FFF2-40B4-BE49-F238E27FC236}">
                <a16:creationId xmlns:a16="http://schemas.microsoft.com/office/drawing/2014/main" id="{4FD0FDB7-426B-E700-5D6C-995C9B8DC2FB}"/>
              </a:ext>
            </a:extLst>
          </p:cNvPr>
          <p:cNvPicPr>
            <a:picLocks noChangeAspect="1"/>
          </p:cNvPicPr>
          <p:nvPr/>
        </p:nvPicPr>
        <p:blipFill>
          <a:blip r:embed="rId2"/>
          <a:stretch>
            <a:fillRect/>
          </a:stretch>
        </p:blipFill>
        <p:spPr>
          <a:xfrm>
            <a:off x="883920" y="1977561"/>
            <a:ext cx="10586720" cy="4672640"/>
          </a:xfrm>
          <a:prstGeom prst="rect">
            <a:avLst/>
          </a:prstGeom>
        </p:spPr>
      </p:pic>
    </p:spTree>
    <p:extLst>
      <p:ext uri="{BB962C8B-B14F-4D97-AF65-F5344CB8AC3E}">
        <p14:creationId xmlns:p14="http://schemas.microsoft.com/office/powerpoint/2010/main" val="11506706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80C1A-9350-ED6F-9C39-1CAE8C1EE3D8}"/>
              </a:ext>
            </a:extLst>
          </p:cNvPr>
          <p:cNvSpPr>
            <a:spLocks noGrp="1"/>
          </p:cNvSpPr>
          <p:nvPr>
            <p:ph type="title"/>
          </p:nvPr>
        </p:nvSpPr>
        <p:spPr>
          <a:xfrm>
            <a:off x="1513840" y="223520"/>
            <a:ext cx="9326880" cy="1534160"/>
          </a:xfrm>
        </p:spPr>
        <p:txBody>
          <a:bodyPr>
            <a:noAutofit/>
          </a:bodyPr>
          <a:lstStyle/>
          <a:p>
            <a:pPr algn="ctr"/>
            <a:r>
              <a:rPr lang="en-US" sz="4800" b="1" dirty="0">
                <a:solidFill>
                  <a:schemeClr val="accent1"/>
                </a:solidFill>
                <a:latin typeface="Arial" panose="020B0604020202020204" pitchFamily="34" charset="0"/>
                <a:cs typeface="Arial" panose="020B0604020202020204" pitchFamily="34" charset="0"/>
              </a:rPr>
              <a:t>Open Price Trend Analysis</a:t>
            </a:r>
          </a:p>
        </p:txBody>
      </p:sp>
      <p:pic>
        <p:nvPicPr>
          <p:cNvPr id="3" name="Picture 2" descr="open_trend.png">
            <a:extLst>
              <a:ext uri="{FF2B5EF4-FFF2-40B4-BE49-F238E27FC236}">
                <a16:creationId xmlns:a16="http://schemas.microsoft.com/office/drawing/2014/main" id="{FB086001-B5C2-68E1-C47A-0C73660DC813}"/>
              </a:ext>
            </a:extLst>
          </p:cNvPr>
          <p:cNvPicPr>
            <a:picLocks noChangeAspect="1"/>
          </p:cNvPicPr>
          <p:nvPr/>
        </p:nvPicPr>
        <p:blipFill>
          <a:blip r:embed="rId2"/>
          <a:stretch>
            <a:fillRect/>
          </a:stretch>
        </p:blipFill>
        <p:spPr>
          <a:xfrm>
            <a:off x="1209040" y="2039620"/>
            <a:ext cx="10373360" cy="4594860"/>
          </a:xfrm>
          <a:prstGeom prst="rect">
            <a:avLst/>
          </a:prstGeom>
        </p:spPr>
      </p:pic>
    </p:spTree>
    <p:extLst>
      <p:ext uri="{BB962C8B-B14F-4D97-AF65-F5344CB8AC3E}">
        <p14:creationId xmlns:p14="http://schemas.microsoft.com/office/powerpoint/2010/main" val="34118783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3BD95-1A24-8803-CECC-4A04CD720D1D}"/>
              </a:ext>
            </a:extLst>
          </p:cNvPr>
          <p:cNvSpPr>
            <a:spLocks noGrp="1"/>
          </p:cNvSpPr>
          <p:nvPr>
            <p:ph type="title"/>
          </p:nvPr>
        </p:nvSpPr>
        <p:spPr>
          <a:xfrm>
            <a:off x="1828800" y="535092"/>
            <a:ext cx="8534400" cy="1507067"/>
          </a:xfrm>
        </p:spPr>
        <p:txBody>
          <a:bodyPr>
            <a:noAutofit/>
          </a:bodyPr>
          <a:lstStyle/>
          <a:p>
            <a:pPr algn="ctr"/>
            <a:r>
              <a:rPr lang="en-US" sz="4800" b="1" dirty="0">
                <a:solidFill>
                  <a:schemeClr val="accent1"/>
                </a:solidFill>
                <a:latin typeface="Arial" panose="020B0604020202020204" pitchFamily="34" charset="0"/>
                <a:cs typeface="Arial" panose="020B0604020202020204" pitchFamily="34" charset="0"/>
              </a:rPr>
              <a:t>High Price Trend Analysis</a:t>
            </a:r>
          </a:p>
        </p:txBody>
      </p:sp>
      <p:pic>
        <p:nvPicPr>
          <p:cNvPr id="3" name="Picture 2" descr="high_trend.png">
            <a:extLst>
              <a:ext uri="{FF2B5EF4-FFF2-40B4-BE49-F238E27FC236}">
                <a16:creationId xmlns:a16="http://schemas.microsoft.com/office/drawing/2014/main" id="{FE2531B2-E26D-32CA-5276-09DA270FCDEA}"/>
              </a:ext>
            </a:extLst>
          </p:cNvPr>
          <p:cNvPicPr>
            <a:picLocks noChangeAspect="1"/>
          </p:cNvPicPr>
          <p:nvPr/>
        </p:nvPicPr>
        <p:blipFill>
          <a:blip r:embed="rId2"/>
          <a:stretch>
            <a:fillRect/>
          </a:stretch>
        </p:blipFill>
        <p:spPr>
          <a:xfrm>
            <a:off x="843280" y="2133600"/>
            <a:ext cx="10952480" cy="4511040"/>
          </a:xfrm>
          <a:prstGeom prst="rect">
            <a:avLst/>
          </a:prstGeom>
        </p:spPr>
      </p:pic>
    </p:spTree>
    <p:extLst>
      <p:ext uri="{BB962C8B-B14F-4D97-AF65-F5344CB8AC3E}">
        <p14:creationId xmlns:p14="http://schemas.microsoft.com/office/powerpoint/2010/main" val="25114514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38DAB-D3B2-C878-1065-15729330CEF5}"/>
              </a:ext>
            </a:extLst>
          </p:cNvPr>
          <p:cNvSpPr>
            <a:spLocks noGrp="1"/>
          </p:cNvSpPr>
          <p:nvPr>
            <p:ph type="title"/>
          </p:nvPr>
        </p:nvSpPr>
        <p:spPr>
          <a:xfrm>
            <a:off x="2116772" y="382692"/>
            <a:ext cx="8534400" cy="1507067"/>
          </a:xfrm>
        </p:spPr>
        <p:txBody>
          <a:bodyPr>
            <a:noAutofit/>
          </a:bodyPr>
          <a:lstStyle/>
          <a:p>
            <a:pPr algn="ctr"/>
            <a:r>
              <a:rPr lang="en-US" sz="4800" b="1" dirty="0">
                <a:solidFill>
                  <a:schemeClr val="accent1"/>
                </a:solidFill>
                <a:latin typeface="Arial" panose="020B0604020202020204" pitchFamily="34" charset="0"/>
                <a:cs typeface="Arial" panose="020B0604020202020204" pitchFamily="34" charset="0"/>
              </a:rPr>
              <a:t>Low Price Trend Analysis</a:t>
            </a:r>
          </a:p>
        </p:txBody>
      </p:sp>
      <p:pic>
        <p:nvPicPr>
          <p:cNvPr id="3" name="Picture 2" descr="low_trend.png">
            <a:extLst>
              <a:ext uri="{FF2B5EF4-FFF2-40B4-BE49-F238E27FC236}">
                <a16:creationId xmlns:a16="http://schemas.microsoft.com/office/drawing/2014/main" id="{3A1D13CE-6EED-853D-9372-E4A878A46295}"/>
              </a:ext>
            </a:extLst>
          </p:cNvPr>
          <p:cNvPicPr>
            <a:picLocks noChangeAspect="1"/>
          </p:cNvPicPr>
          <p:nvPr/>
        </p:nvPicPr>
        <p:blipFill>
          <a:blip r:embed="rId2"/>
          <a:stretch>
            <a:fillRect/>
          </a:stretch>
        </p:blipFill>
        <p:spPr>
          <a:xfrm>
            <a:off x="721360" y="2153920"/>
            <a:ext cx="10708640" cy="4429760"/>
          </a:xfrm>
          <a:prstGeom prst="rect">
            <a:avLst/>
          </a:prstGeom>
        </p:spPr>
      </p:pic>
    </p:spTree>
    <p:extLst>
      <p:ext uri="{BB962C8B-B14F-4D97-AF65-F5344CB8AC3E}">
        <p14:creationId xmlns:p14="http://schemas.microsoft.com/office/powerpoint/2010/main" val="36663697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704ED-95D5-AA0F-F7E0-C13C0BFE8CEF}"/>
              </a:ext>
            </a:extLst>
          </p:cNvPr>
          <p:cNvSpPr>
            <a:spLocks noGrp="1"/>
          </p:cNvSpPr>
          <p:nvPr>
            <p:ph type="title"/>
          </p:nvPr>
        </p:nvSpPr>
        <p:spPr>
          <a:xfrm>
            <a:off x="2032000" y="413172"/>
            <a:ext cx="8534400" cy="1507067"/>
          </a:xfrm>
        </p:spPr>
        <p:txBody>
          <a:bodyPr>
            <a:noAutofit/>
          </a:bodyPr>
          <a:lstStyle/>
          <a:p>
            <a:pPr algn="ctr"/>
            <a:r>
              <a:rPr lang="en-US" sz="4800" b="1" dirty="0">
                <a:solidFill>
                  <a:schemeClr val="accent1"/>
                </a:solidFill>
                <a:latin typeface="Arial" panose="020B0604020202020204" pitchFamily="34" charset="0"/>
                <a:cs typeface="Arial" panose="020B0604020202020204" pitchFamily="34" charset="0"/>
              </a:rPr>
              <a:t>Trading Volume Analysis</a:t>
            </a:r>
          </a:p>
        </p:txBody>
      </p:sp>
      <p:pic>
        <p:nvPicPr>
          <p:cNvPr id="3" name="Picture 2" descr="volume_trend.png">
            <a:extLst>
              <a:ext uri="{FF2B5EF4-FFF2-40B4-BE49-F238E27FC236}">
                <a16:creationId xmlns:a16="http://schemas.microsoft.com/office/drawing/2014/main" id="{9C622031-1A43-A511-1AB8-E8EEEA94434C}"/>
              </a:ext>
            </a:extLst>
          </p:cNvPr>
          <p:cNvPicPr>
            <a:picLocks noChangeAspect="1"/>
          </p:cNvPicPr>
          <p:nvPr/>
        </p:nvPicPr>
        <p:blipFill>
          <a:blip r:embed="rId2"/>
          <a:stretch>
            <a:fillRect/>
          </a:stretch>
        </p:blipFill>
        <p:spPr>
          <a:xfrm>
            <a:off x="701040" y="2082024"/>
            <a:ext cx="10810240" cy="4504195"/>
          </a:xfrm>
          <a:prstGeom prst="rect">
            <a:avLst/>
          </a:prstGeom>
        </p:spPr>
      </p:pic>
    </p:spTree>
    <p:extLst>
      <p:ext uri="{BB962C8B-B14F-4D97-AF65-F5344CB8AC3E}">
        <p14:creationId xmlns:p14="http://schemas.microsoft.com/office/powerpoint/2010/main" val="5343662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8889A-5ADB-55B9-E986-2147E6B71E39}"/>
              </a:ext>
            </a:extLst>
          </p:cNvPr>
          <p:cNvSpPr>
            <a:spLocks noGrp="1"/>
          </p:cNvSpPr>
          <p:nvPr>
            <p:ph type="ctrTitle"/>
          </p:nvPr>
        </p:nvSpPr>
        <p:spPr>
          <a:xfrm>
            <a:off x="2218372" y="330199"/>
            <a:ext cx="8001000" cy="868681"/>
          </a:xfrm>
        </p:spPr>
        <p:txBody>
          <a:bodyPr/>
          <a:lstStyle/>
          <a:p>
            <a:pPr algn="ctr"/>
            <a:r>
              <a:rPr lang="en-US" b="1" dirty="0">
                <a:solidFill>
                  <a:schemeClr val="accent1"/>
                </a:solidFill>
                <a:latin typeface="Arial" panose="020B0604020202020204" pitchFamily="34" charset="0"/>
                <a:cs typeface="Arial" panose="020B0604020202020204" pitchFamily="34" charset="0"/>
              </a:rPr>
              <a:t>Trend Observations</a:t>
            </a:r>
          </a:p>
        </p:txBody>
      </p:sp>
      <p:sp>
        <p:nvSpPr>
          <p:cNvPr id="3" name="Subtitle 2">
            <a:extLst>
              <a:ext uri="{FF2B5EF4-FFF2-40B4-BE49-F238E27FC236}">
                <a16:creationId xmlns:a16="http://schemas.microsoft.com/office/drawing/2014/main" id="{33E275D9-1BCC-E109-7AF9-01416ECF65E9}"/>
              </a:ext>
            </a:extLst>
          </p:cNvPr>
          <p:cNvSpPr>
            <a:spLocks noGrp="1"/>
          </p:cNvSpPr>
          <p:nvPr>
            <p:ph type="subTitle" idx="1"/>
          </p:nvPr>
        </p:nvSpPr>
        <p:spPr>
          <a:xfrm>
            <a:off x="1060132" y="2116667"/>
            <a:ext cx="10542588" cy="3877733"/>
          </a:xfrm>
        </p:spPr>
        <p:txBody>
          <a:bodyPr>
            <a:normAutofit/>
          </a:bodyPr>
          <a:lstStyle/>
          <a:p>
            <a:pPr marL="342900" indent="-342900">
              <a:buFont typeface="Arial" panose="020B0604020202020204" pitchFamily="34" charset="0"/>
              <a:buChar char="•"/>
            </a:pPr>
            <a:r>
              <a:rPr lang="en-US" dirty="0">
                <a:solidFill>
                  <a:schemeClr val="bg1"/>
                </a:solidFill>
              </a:rPr>
              <a:t>Frequent fluctuations indicate high volatility</a:t>
            </a:r>
          </a:p>
          <a:p>
            <a:pPr marL="342900" indent="-342900">
              <a:buFont typeface="Arial" panose="020B0604020202020204" pitchFamily="34" charset="0"/>
              <a:buChar char="•"/>
            </a:pPr>
            <a:r>
              <a:rPr lang="en-US" dirty="0">
                <a:solidFill>
                  <a:schemeClr val="bg1"/>
                </a:solidFill>
              </a:rPr>
              <a:t>Price instability increased during later periods</a:t>
            </a:r>
          </a:p>
          <a:p>
            <a:r>
              <a:rPr lang="en-US" sz="1800" dirty="0">
                <a:solidFill>
                  <a:schemeClr val="bg1"/>
                </a:solidFill>
                <a:latin typeface="Arial" panose="020B0604020202020204" pitchFamily="34" charset="0"/>
                <a:cs typeface="Arial" panose="020B0604020202020204" pitchFamily="34" charset="0"/>
              </a:rPr>
              <a:t>Each column was analyzed for meaning, range, and data type. Each column was analyzed for meaning, range, and data type. Each column was analyzed for meaning, range, and data type. Each column was analyzed for meaning, range, and data type.</a:t>
            </a:r>
          </a:p>
          <a:p>
            <a:r>
              <a:rPr lang="en-US" sz="1800" b="1" dirty="0">
                <a:solidFill>
                  <a:schemeClr val="bg1"/>
                </a:solidFill>
                <a:latin typeface="Arial" panose="020B0604020202020204" pitchFamily="34" charset="0"/>
                <a:cs typeface="Arial" panose="020B0604020202020204" pitchFamily="34" charset="0"/>
              </a:rPr>
              <a:t>Null Value Analysis</a:t>
            </a:r>
          </a:p>
          <a:p>
            <a:r>
              <a:rPr lang="en-US" sz="1800" dirty="0">
                <a:solidFill>
                  <a:schemeClr val="bg1"/>
                </a:solidFill>
                <a:latin typeface="Arial" panose="020B0604020202020204" pitchFamily="34" charset="0"/>
                <a:cs typeface="Arial" panose="020B0604020202020204" pitchFamily="34" charset="0"/>
              </a:rPr>
              <a:t>The dataset was checked for missing values and cleaned appropriately. The dataset was checked for missing values and cleaned appropriately. The dataset was checked for missing values and cleaned appropriately. The dataset was checked for missing values and cleaned appropriately.</a:t>
            </a:r>
            <a:endParaRPr lang="en-US" sz="1800" b="1" dirty="0">
              <a:solidFill>
                <a:schemeClr val="bg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18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980752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4F637-E87C-CBE7-F4E4-35645ADF9219}"/>
              </a:ext>
            </a:extLst>
          </p:cNvPr>
          <p:cNvSpPr>
            <a:spLocks noGrp="1"/>
          </p:cNvSpPr>
          <p:nvPr>
            <p:ph type="ctrTitle"/>
          </p:nvPr>
        </p:nvSpPr>
        <p:spPr>
          <a:xfrm>
            <a:off x="2300446" y="355599"/>
            <a:ext cx="8001000" cy="772161"/>
          </a:xfrm>
        </p:spPr>
        <p:txBody>
          <a:bodyPr>
            <a:noAutofit/>
          </a:bodyPr>
          <a:lstStyle/>
          <a:p>
            <a:pPr algn="ctr"/>
            <a:r>
              <a:rPr lang="en-US" b="1" dirty="0">
                <a:solidFill>
                  <a:schemeClr val="accent1"/>
                </a:solidFill>
                <a:latin typeface="Arial" panose="020B0604020202020204" pitchFamily="34" charset="0"/>
                <a:cs typeface="Arial" panose="020B0604020202020204" pitchFamily="34" charset="0"/>
              </a:rPr>
              <a:t>Timeline Analysis</a:t>
            </a:r>
          </a:p>
        </p:txBody>
      </p:sp>
      <p:sp>
        <p:nvSpPr>
          <p:cNvPr id="3" name="Subtitle 2">
            <a:extLst>
              <a:ext uri="{FF2B5EF4-FFF2-40B4-BE49-F238E27FC236}">
                <a16:creationId xmlns:a16="http://schemas.microsoft.com/office/drawing/2014/main" id="{92478E67-7D76-F68E-E8A5-1DC3FD2260BC}"/>
              </a:ext>
            </a:extLst>
          </p:cNvPr>
          <p:cNvSpPr>
            <a:spLocks noGrp="1"/>
          </p:cNvSpPr>
          <p:nvPr>
            <p:ph type="subTitle" idx="1"/>
          </p:nvPr>
        </p:nvSpPr>
        <p:spPr>
          <a:xfrm>
            <a:off x="377666" y="1722543"/>
            <a:ext cx="5291614" cy="4406053"/>
          </a:xfrm>
        </p:spPr>
        <p:txBody>
          <a:bodyPr/>
          <a:lstStyle/>
          <a:p>
            <a:pPr marL="342900" indent="-34290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Early growth followed by unstable movement</a:t>
            </a:r>
          </a:p>
          <a:p>
            <a:pPr marL="342900" indent="-34290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Market uncertainty before delisting phase</a:t>
            </a:r>
            <a:br>
              <a:rPr lang="en-US" sz="1800" dirty="0">
                <a:solidFill>
                  <a:schemeClr val="bg1"/>
                </a:solidFill>
                <a:latin typeface="Arial" panose="020B0604020202020204" pitchFamily="34" charset="0"/>
                <a:cs typeface="Arial" panose="020B0604020202020204" pitchFamily="34" charset="0"/>
              </a:rPr>
            </a:br>
            <a:endParaRPr lang="en-US" sz="1800" dirty="0">
              <a:solidFill>
                <a:schemeClr val="bg1"/>
              </a:solidFill>
              <a:latin typeface="Arial" panose="020B0604020202020204" pitchFamily="34" charset="0"/>
              <a:cs typeface="Arial" panose="020B0604020202020204" pitchFamily="34" charset="0"/>
            </a:endParaRPr>
          </a:p>
          <a:p>
            <a:r>
              <a:rPr lang="en-US" sz="1800" b="1" dirty="0">
                <a:solidFill>
                  <a:schemeClr val="bg1"/>
                </a:solidFill>
                <a:latin typeface="Arial" panose="020B0604020202020204" pitchFamily="34" charset="0"/>
                <a:cs typeface="Arial" panose="020B0604020202020204" pitchFamily="34" charset="0"/>
              </a:rPr>
              <a:t>Statistical Summary</a:t>
            </a:r>
          </a:p>
          <a:p>
            <a:r>
              <a:rPr lang="en-US" sz="1800" dirty="0">
                <a:solidFill>
                  <a:schemeClr val="bg1"/>
                </a:solidFill>
                <a:latin typeface="Arial" panose="020B0604020202020204" pitchFamily="34" charset="0"/>
                <a:cs typeface="Arial" panose="020B0604020202020204" pitchFamily="34" charset="0"/>
              </a:rPr>
              <a:t>Mean, median, standard deviation, min, and max values were calculated. Mean, median, standard deviation, min, and max values were calculated. Mean, median, standard deviation, min, and max values were calculated. Mean, median, standard deviation, min, and max values were calculated.</a:t>
            </a:r>
          </a:p>
          <a:p>
            <a:endParaRPr lang="en-US" sz="1800" dirty="0">
              <a:solidFill>
                <a:schemeClr val="bg1"/>
              </a:solidFill>
              <a:latin typeface="Arial" panose="020B0604020202020204" pitchFamily="34" charset="0"/>
              <a:cs typeface="Arial" panose="020B0604020202020204" pitchFamily="34" charset="0"/>
            </a:endParaRPr>
          </a:p>
          <a:p>
            <a:endParaRPr lang="en-US" sz="1800" dirty="0">
              <a:solidFill>
                <a:schemeClr val="bg1"/>
              </a:solidFill>
              <a:latin typeface="Arial" panose="020B0604020202020204" pitchFamily="34" charset="0"/>
              <a:cs typeface="Arial" panose="020B0604020202020204" pitchFamily="34" charset="0"/>
            </a:endParaRPr>
          </a:p>
          <a:p>
            <a:endParaRPr lang="en-US" dirty="0"/>
          </a:p>
        </p:txBody>
      </p:sp>
      <p:pic>
        <p:nvPicPr>
          <p:cNvPr id="5" name="Picture 4">
            <a:extLst>
              <a:ext uri="{FF2B5EF4-FFF2-40B4-BE49-F238E27FC236}">
                <a16:creationId xmlns:a16="http://schemas.microsoft.com/office/drawing/2014/main" id="{A2925B0A-3762-49B5-6A03-8E3AA7F92E3E}"/>
              </a:ext>
            </a:extLst>
          </p:cNvPr>
          <p:cNvPicPr>
            <a:picLocks noChangeAspect="1"/>
          </p:cNvPicPr>
          <p:nvPr/>
        </p:nvPicPr>
        <p:blipFill>
          <a:blip r:embed="rId2"/>
          <a:stretch>
            <a:fillRect/>
          </a:stretch>
        </p:blipFill>
        <p:spPr>
          <a:xfrm>
            <a:off x="5953760" y="2080260"/>
            <a:ext cx="5968868" cy="3690620"/>
          </a:xfrm>
          <a:prstGeom prst="rect">
            <a:avLst/>
          </a:prstGeom>
        </p:spPr>
      </p:pic>
    </p:spTree>
    <p:extLst>
      <p:ext uri="{BB962C8B-B14F-4D97-AF65-F5344CB8AC3E}">
        <p14:creationId xmlns:p14="http://schemas.microsoft.com/office/powerpoint/2010/main" val="31930969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2BC80-E911-D004-2C26-5C5D119FC855}"/>
              </a:ext>
            </a:extLst>
          </p:cNvPr>
          <p:cNvSpPr>
            <a:spLocks noGrp="1"/>
          </p:cNvSpPr>
          <p:nvPr>
            <p:ph type="ctrTitle"/>
          </p:nvPr>
        </p:nvSpPr>
        <p:spPr>
          <a:xfrm>
            <a:off x="2238692" y="218439"/>
            <a:ext cx="8001000" cy="960121"/>
          </a:xfrm>
        </p:spPr>
        <p:txBody>
          <a:bodyPr/>
          <a:lstStyle/>
          <a:p>
            <a:pPr algn="ctr"/>
            <a:r>
              <a:rPr lang="en-US" b="1" dirty="0">
                <a:solidFill>
                  <a:schemeClr val="accent1"/>
                </a:solidFill>
                <a:latin typeface="Arial" panose="020B0604020202020204" pitchFamily="34" charset="0"/>
                <a:cs typeface="Arial" panose="020B0604020202020204" pitchFamily="34" charset="0"/>
              </a:rPr>
              <a:t>Analysis</a:t>
            </a:r>
          </a:p>
        </p:txBody>
      </p:sp>
      <p:sp>
        <p:nvSpPr>
          <p:cNvPr id="3" name="Subtitle 2">
            <a:extLst>
              <a:ext uri="{FF2B5EF4-FFF2-40B4-BE49-F238E27FC236}">
                <a16:creationId xmlns:a16="http://schemas.microsoft.com/office/drawing/2014/main" id="{75050097-730E-F017-A655-4BF9A4A62B1E}"/>
              </a:ext>
            </a:extLst>
          </p:cNvPr>
          <p:cNvSpPr>
            <a:spLocks noGrp="1"/>
          </p:cNvSpPr>
          <p:nvPr>
            <p:ph type="subTitle" idx="1"/>
          </p:nvPr>
        </p:nvSpPr>
        <p:spPr>
          <a:xfrm>
            <a:off x="672306" y="1740747"/>
            <a:ext cx="10847388" cy="4253653"/>
          </a:xfrm>
        </p:spPr>
        <p:txBody>
          <a:bodyPr/>
          <a:lstStyle/>
          <a:p>
            <a:r>
              <a:rPr lang="en-US" b="1" dirty="0">
                <a:solidFill>
                  <a:schemeClr val="bg1"/>
                </a:solidFill>
                <a:latin typeface="Arial" panose="020B0604020202020204" pitchFamily="34" charset="0"/>
                <a:cs typeface="Arial" panose="020B0604020202020204" pitchFamily="34" charset="0"/>
              </a:rPr>
              <a:t>T-Test Analysis</a:t>
            </a:r>
            <a:br>
              <a:rPr lang="en-US" b="1" dirty="0">
                <a:solidFill>
                  <a:schemeClr val="bg1"/>
                </a:solidFill>
                <a:latin typeface="Arial" panose="020B0604020202020204" pitchFamily="34" charset="0"/>
                <a:cs typeface="Arial" panose="020B0604020202020204" pitchFamily="34" charset="0"/>
              </a:rPr>
            </a:br>
            <a:r>
              <a:rPr lang="en-US" dirty="0">
                <a:solidFill>
                  <a:schemeClr val="bg1"/>
                </a:solidFill>
                <a:latin typeface="Arial" panose="020B0604020202020204" pitchFamily="34" charset="0"/>
                <a:cs typeface="Arial" panose="020B0604020202020204" pitchFamily="34" charset="0"/>
              </a:rPr>
              <a:t>T-tests were performed between High, Low, and Close prices to test mean differences. T-tests were performed between High, Low, and Close prices to test mean differences. T-tests were performed between High, Low, and Close prices to test mean differences. T-tests were performed between High, Low, and Close prices to test mean differences.</a:t>
            </a:r>
            <a:br>
              <a:rPr lang="en-US" dirty="0">
                <a:solidFill>
                  <a:schemeClr val="bg1"/>
                </a:solidFill>
                <a:latin typeface="Arial" panose="020B0604020202020204" pitchFamily="34" charset="0"/>
                <a:cs typeface="Arial" panose="020B0604020202020204" pitchFamily="34" charset="0"/>
              </a:rPr>
            </a:br>
            <a:br>
              <a:rPr lang="en-US" dirty="0">
                <a:solidFill>
                  <a:schemeClr val="bg1"/>
                </a:solidFill>
                <a:latin typeface="Arial" panose="020B0604020202020204" pitchFamily="34" charset="0"/>
                <a:cs typeface="Arial" panose="020B0604020202020204" pitchFamily="34" charset="0"/>
              </a:rPr>
            </a:br>
            <a:r>
              <a:rPr lang="en-US" b="1" dirty="0">
                <a:solidFill>
                  <a:schemeClr val="bg1"/>
                </a:solidFill>
                <a:latin typeface="Arial" panose="020B0604020202020204" pitchFamily="34" charset="0"/>
                <a:cs typeface="Arial" panose="020B0604020202020204" pitchFamily="34" charset="0"/>
              </a:rPr>
              <a:t>Chi-Square Test</a:t>
            </a:r>
            <a:br>
              <a:rPr lang="en-US" dirty="0">
                <a:solidFill>
                  <a:schemeClr val="bg1"/>
                </a:solidFill>
                <a:latin typeface="Arial" panose="020B0604020202020204" pitchFamily="34" charset="0"/>
                <a:cs typeface="Arial" panose="020B0604020202020204" pitchFamily="34" charset="0"/>
              </a:rPr>
            </a:br>
            <a:r>
              <a:rPr lang="en-US" dirty="0">
                <a:solidFill>
                  <a:schemeClr val="bg1"/>
                </a:solidFill>
                <a:latin typeface="Arial" panose="020B0604020202020204" pitchFamily="34" charset="0"/>
                <a:cs typeface="Arial" panose="020B0604020202020204" pitchFamily="34" charset="0"/>
              </a:rPr>
              <a:t>Chi-square test was used to determine dependency between volume and price categories. Chi-square test was used to determine dependency between volume and price categories. Chi-square test was used to determine dependency between volume and price categories. Chi-square test was used to determine dependency between volume and price categories.</a:t>
            </a:r>
            <a:endParaRPr lang="en-US"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469616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4E0728D-A64D-3C56-8438-1CA59D6F4B94}"/>
              </a:ext>
            </a:extLst>
          </p:cNvPr>
          <p:cNvSpPr txBox="1"/>
          <p:nvPr/>
        </p:nvSpPr>
        <p:spPr>
          <a:xfrm>
            <a:off x="269240" y="649744"/>
            <a:ext cx="11653520" cy="5355312"/>
          </a:xfrm>
          <a:prstGeom prst="rect">
            <a:avLst/>
          </a:prstGeom>
          <a:noFill/>
        </p:spPr>
        <p:txBody>
          <a:bodyPr wrap="square" rtlCol="0">
            <a:spAutoFit/>
          </a:bodyPr>
          <a:lstStyle/>
          <a:p>
            <a:r>
              <a:rPr lang="en-US" b="1" dirty="0">
                <a:solidFill>
                  <a:schemeClr val="bg1"/>
                </a:solidFill>
                <a:latin typeface="Arial" panose="020B0604020202020204" pitchFamily="34" charset="0"/>
                <a:cs typeface="Arial" panose="020B0604020202020204" pitchFamily="34" charset="0"/>
              </a:rPr>
              <a:t>Stock Price Trend Analysis</a:t>
            </a:r>
          </a:p>
          <a:p>
            <a:r>
              <a:rPr lang="en-US" dirty="0">
                <a:solidFill>
                  <a:schemeClr val="bg1"/>
                </a:solidFill>
                <a:latin typeface="Arial" panose="020B0604020202020204" pitchFamily="34" charset="0"/>
                <a:cs typeface="Arial" panose="020B0604020202020204" pitchFamily="34" charset="0"/>
              </a:rPr>
              <a:t>Line charts were used to visualize stock prices over time. Line charts were used to visualize stock prices over time. Line charts were used to visualize stock prices over time. Line charts were used to visualize stock prices over time.</a:t>
            </a:r>
            <a:br>
              <a:rPr lang="en-US" b="1" dirty="0">
                <a:solidFill>
                  <a:schemeClr val="bg1"/>
                </a:solidFill>
                <a:latin typeface="Arial" panose="020B0604020202020204" pitchFamily="34" charset="0"/>
                <a:cs typeface="Arial" panose="020B0604020202020204" pitchFamily="34" charset="0"/>
              </a:rPr>
            </a:br>
            <a:br>
              <a:rPr lang="en-US" b="1" dirty="0">
                <a:solidFill>
                  <a:schemeClr val="bg1"/>
                </a:solidFill>
                <a:latin typeface="Arial" panose="020B0604020202020204" pitchFamily="34" charset="0"/>
                <a:cs typeface="Arial" panose="020B0604020202020204" pitchFamily="34" charset="0"/>
              </a:rPr>
            </a:br>
            <a:r>
              <a:rPr lang="en-US" b="1" dirty="0">
                <a:solidFill>
                  <a:schemeClr val="bg1"/>
                </a:solidFill>
                <a:latin typeface="Arial" panose="020B0604020202020204" pitchFamily="34" charset="0"/>
                <a:cs typeface="Arial" panose="020B0604020202020204" pitchFamily="34" charset="0"/>
              </a:rPr>
              <a:t>Close Price Analysis</a:t>
            </a:r>
            <a:br>
              <a:rPr lang="en-US" b="1" dirty="0">
                <a:solidFill>
                  <a:schemeClr val="bg1"/>
                </a:solidFill>
                <a:latin typeface="Arial" panose="020B0604020202020204" pitchFamily="34" charset="0"/>
                <a:cs typeface="Arial" panose="020B0604020202020204" pitchFamily="34" charset="0"/>
              </a:rPr>
            </a:br>
            <a:r>
              <a:rPr lang="en-US" dirty="0">
                <a:solidFill>
                  <a:schemeClr val="bg1"/>
                </a:solidFill>
                <a:latin typeface="Arial" panose="020B0604020202020204" pitchFamily="34" charset="0"/>
                <a:cs typeface="Arial" panose="020B0604020202020204" pitchFamily="34" charset="0"/>
              </a:rPr>
              <a:t>Close price trends reveal volatility and major fluctuations. Close price trends reveal volatility and major fluctuations. Close price trends reveal volatility and major fluctuations. Close price trends reveal volatility and major fluctuations.</a:t>
            </a:r>
            <a:br>
              <a:rPr lang="en-US" b="1" dirty="0">
                <a:solidFill>
                  <a:schemeClr val="bg1"/>
                </a:solidFill>
                <a:latin typeface="Arial" panose="020B0604020202020204" pitchFamily="34" charset="0"/>
                <a:cs typeface="Arial" panose="020B0604020202020204" pitchFamily="34" charset="0"/>
              </a:rPr>
            </a:br>
            <a:br>
              <a:rPr lang="en-US" b="1" dirty="0">
                <a:solidFill>
                  <a:schemeClr val="bg1"/>
                </a:solidFill>
                <a:latin typeface="Arial" panose="020B0604020202020204" pitchFamily="34" charset="0"/>
                <a:cs typeface="Arial" panose="020B0604020202020204" pitchFamily="34" charset="0"/>
              </a:rPr>
            </a:br>
            <a:r>
              <a:rPr lang="en-US" b="1" dirty="0">
                <a:solidFill>
                  <a:schemeClr val="bg1"/>
                </a:solidFill>
                <a:latin typeface="Arial" panose="020B0604020202020204" pitchFamily="34" charset="0"/>
                <a:cs typeface="Arial" panose="020B0604020202020204" pitchFamily="34" charset="0"/>
              </a:rPr>
              <a:t>Timeline Analysis</a:t>
            </a:r>
            <a:br>
              <a:rPr lang="en-US" b="1" dirty="0">
                <a:solidFill>
                  <a:schemeClr val="bg1"/>
                </a:solidFill>
                <a:latin typeface="Arial" panose="020B0604020202020204" pitchFamily="34" charset="0"/>
                <a:cs typeface="Arial" panose="020B0604020202020204" pitchFamily="34" charset="0"/>
              </a:rPr>
            </a:br>
            <a:r>
              <a:rPr lang="en-US" dirty="0">
                <a:solidFill>
                  <a:schemeClr val="bg1"/>
                </a:solidFill>
                <a:latin typeface="Arial" panose="020B0604020202020204" pitchFamily="34" charset="0"/>
                <a:cs typeface="Arial" panose="020B0604020202020204" pitchFamily="34" charset="0"/>
              </a:rPr>
              <a:t>Complete stock timeline from IPO to delisting was visualized. Complete stock timeline from IPO to delisting was visualized. Complete stock timeline from IPO to delisting was visualized. Complete stock timeline from IPO to delisting was visualized.</a:t>
            </a:r>
            <a:br>
              <a:rPr lang="en-US" b="1" dirty="0">
                <a:solidFill>
                  <a:schemeClr val="bg1"/>
                </a:solidFill>
                <a:latin typeface="Arial" panose="020B0604020202020204" pitchFamily="34" charset="0"/>
                <a:cs typeface="Arial" panose="020B0604020202020204" pitchFamily="34" charset="0"/>
              </a:rPr>
            </a:br>
            <a:br>
              <a:rPr lang="en-US" b="1" dirty="0">
                <a:solidFill>
                  <a:schemeClr val="bg1"/>
                </a:solidFill>
                <a:latin typeface="Arial" panose="020B0604020202020204" pitchFamily="34" charset="0"/>
                <a:cs typeface="Arial" panose="020B0604020202020204" pitchFamily="34" charset="0"/>
              </a:rPr>
            </a:br>
            <a:r>
              <a:rPr lang="en-US" b="1" dirty="0">
                <a:solidFill>
                  <a:schemeClr val="bg1"/>
                </a:solidFill>
                <a:latin typeface="Arial" panose="020B0604020202020204" pitchFamily="34" charset="0"/>
                <a:cs typeface="Arial" panose="020B0604020202020204" pitchFamily="34" charset="0"/>
              </a:rPr>
              <a:t>Volume Analysis</a:t>
            </a:r>
            <a:br>
              <a:rPr lang="en-US" b="1" dirty="0">
                <a:solidFill>
                  <a:schemeClr val="bg1"/>
                </a:solidFill>
                <a:latin typeface="Arial" panose="020B0604020202020204" pitchFamily="34" charset="0"/>
                <a:cs typeface="Arial" panose="020B0604020202020204" pitchFamily="34" charset="0"/>
              </a:rPr>
            </a:br>
            <a:r>
              <a:rPr lang="en-US" dirty="0">
                <a:solidFill>
                  <a:schemeClr val="bg1"/>
                </a:solidFill>
                <a:latin typeface="Arial" panose="020B0604020202020204" pitchFamily="34" charset="0"/>
                <a:cs typeface="Arial" panose="020B0604020202020204" pitchFamily="34" charset="0"/>
              </a:rPr>
              <a:t>Trading volume spikes correspond with major price changes. Trading volume spikes correspond with major price changes. Trading volume spikes correspond with major price changes. Trading volume spikes correspond with major price changes.</a:t>
            </a:r>
            <a:endParaRPr lang="en-US"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419595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6011D0F-AD96-3BF7-A6B3-7092B0277204}"/>
              </a:ext>
            </a:extLst>
          </p:cNvPr>
          <p:cNvSpPr txBox="1"/>
          <p:nvPr/>
        </p:nvSpPr>
        <p:spPr>
          <a:xfrm>
            <a:off x="497840" y="670560"/>
            <a:ext cx="11196320" cy="5909310"/>
          </a:xfrm>
          <a:prstGeom prst="rect">
            <a:avLst/>
          </a:prstGeom>
          <a:noFill/>
        </p:spPr>
        <p:txBody>
          <a:bodyPr wrap="square" rtlCol="0">
            <a:spAutoFit/>
          </a:bodyPr>
          <a:lstStyle/>
          <a:p>
            <a:r>
              <a:rPr lang="en-US" b="1" dirty="0">
                <a:solidFill>
                  <a:schemeClr val="bg1"/>
                </a:solidFill>
                <a:latin typeface="Arial" panose="020B0604020202020204" pitchFamily="34" charset="0"/>
                <a:cs typeface="Arial" panose="020B0604020202020204" pitchFamily="34" charset="0"/>
              </a:rPr>
              <a:t>Word Cloud Analysis</a:t>
            </a:r>
            <a:br>
              <a:rPr lang="en-US" dirty="0">
                <a:solidFill>
                  <a:schemeClr val="bg1"/>
                </a:solidFill>
                <a:latin typeface="Arial" panose="020B0604020202020204" pitchFamily="34" charset="0"/>
                <a:cs typeface="Arial" panose="020B0604020202020204" pitchFamily="34" charset="0"/>
              </a:rPr>
            </a:br>
            <a:r>
              <a:rPr lang="en-US" dirty="0">
                <a:solidFill>
                  <a:schemeClr val="bg1"/>
                </a:solidFill>
                <a:latin typeface="Arial" panose="020B0604020202020204" pitchFamily="34" charset="0"/>
                <a:cs typeface="Arial" panose="020B0604020202020204" pitchFamily="34" charset="0"/>
              </a:rPr>
              <a:t>Word cloud summarizes key analytical terms. Word cloud summarizes key analytical terms. Word cloud summarizes key analytical terms. Word cloud summarizes key analytical terms.</a:t>
            </a:r>
            <a:br>
              <a:rPr lang="en-US" dirty="0">
                <a:solidFill>
                  <a:schemeClr val="bg1"/>
                </a:solidFill>
                <a:latin typeface="Arial" panose="020B0604020202020204" pitchFamily="34" charset="0"/>
                <a:cs typeface="Arial" panose="020B0604020202020204" pitchFamily="34" charset="0"/>
              </a:rPr>
            </a:br>
            <a:br>
              <a:rPr lang="en-US" dirty="0">
                <a:solidFill>
                  <a:schemeClr val="bg1"/>
                </a:solidFill>
                <a:latin typeface="Arial" panose="020B0604020202020204" pitchFamily="34" charset="0"/>
                <a:cs typeface="Arial" panose="020B0604020202020204" pitchFamily="34" charset="0"/>
              </a:rPr>
            </a:br>
            <a:r>
              <a:rPr lang="en-US" b="1" dirty="0">
                <a:solidFill>
                  <a:schemeClr val="bg1"/>
                </a:solidFill>
                <a:latin typeface="Arial" panose="020B0604020202020204" pitchFamily="34" charset="0"/>
                <a:cs typeface="Arial" panose="020B0604020202020204" pitchFamily="34" charset="0"/>
              </a:rPr>
              <a:t>Advanced Analysis</a:t>
            </a:r>
            <a:br>
              <a:rPr lang="en-US" dirty="0">
                <a:solidFill>
                  <a:schemeClr val="bg1"/>
                </a:solidFill>
                <a:latin typeface="Arial" panose="020B0604020202020204" pitchFamily="34" charset="0"/>
                <a:cs typeface="Arial" panose="020B0604020202020204" pitchFamily="34" charset="0"/>
              </a:rPr>
            </a:br>
            <a:r>
              <a:rPr lang="en-US" dirty="0">
                <a:solidFill>
                  <a:schemeClr val="bg1"/>
                </a:solidFill>
                <a:latin typeface="Arial" panose="020B0604020202020204" pitchFamily="34" charset="0"/>
                <a:cs typeface="Arial" panose="020B0604020202020204" pitchFamily="34" charset="0"/>
              </a:rPr>
              <a:t>Seasonality and correlation analysis can enhance insights. Seasonality and correlation analysis can enhance insights. Seasonality and correlation analysis can enhance insights. Seasonality and correlation analysis can enhance insights.</a:t>
            </a:r>
            <a:br>
              <a:rPr lang="en-US" dirty="0">
                <a:solidFill>
                  <a:schemeClr val="bg1"/>
                </a:solidFill>
                <a:latin typeface="Arial" panose="020B0604020202020204" pitchFamily="34" charset="0"/>
                <a:cs typeface="Arial" panose="020B0604020202020204" pitchFamily="34" charset="0"/>
              </a:rPr>
            </a:br>
            <a:br>
              <a:rPr lang="en-US" dirty="0">
                <a:solidFill>
                  <a:schemeClr val="bg1"/>
                </a:solidFill>
                <a:latin typeface="Arial" panose="020B0604020202020204" pitchFamily="34" charset="0"/>
                <a:cs typeface="Arial" panose="020B0604020202020204" pitchFamily="34" charset="0"/>
              </a:rPr>
            </a:br>
            <a:r>
              <a:rPr lang="en-US" b="1" dirty="0">
                <a:solidFill>
                  <a:schemeClr val="bg1"/>
                </a:solidFill>
                <a:latin typeface="Arial" panose="020B0604020202020204" pitchFamily="34" charset="0"/>
                <a:cs typeface="Arial" panose="020B0604020202020204" pitchFamily="34" charset="0"/>
              </a:rPr>
              <a:t>Correlation Analysis </a:t>
            </a:r>
            <a:br>
              <a:rPr lang="en-US" dirty="0">
                <a:solidFill>
                  <a:schemeClr val="bg1"/>
                </a:solidFill>
                <a:latin typeface="Arial" panose="020B0604020202020204" pitchFamily="34" charset="0"/>
                <a:cs typeface="Arial" panose="020B0604020202020204" pitchFamily="34" charset="0"/>
              </a:rPr>
            </a:br>
            <a:r>
              <a:rPr lang="en-US" dirty="0">
                <a:solidFill>
                  <a:schemeClr val="bg1"/>
                </a:solidFill>
                <a:latin typeface="Arial" panose="020B0604020202020204" pitchFamily="34" charset="0"/>
                <a:cs typeface="Arial" panose="020B0604020202020204" pitchFamily="34" charset="0"/>
              </a:rPr>
              <a:t>Correlation heatmap highlights relationships between stock variables. Correlation heatmap highlights relationships between stock variables. Correlation heatmap highlights relationships between stock variables. Correlation heatmap highlights relationships between stock variables. Correlation heatmap highlights relationships between stock variables.</a:t>
            </a:r>
            <a:br>
              <a:rPr lang="en-US" dirty="0">
                <a:solidFill>
                  <a:schemeClr val="bg1"/>
                </a:solidFill>
                <a:latin typeface="Arial" panose="020B0604020202020204" pitchFamily="34" charset="0"/>
                <a:cs typeface="Arial" panose="020B0604020202020204" pitchFamily="34" charset="0"/>
              </a:rPr>
            </a:br>
            <a:br>
              <a:rPr lang="en-US" dirty="0">
                <a:solidFill>
                  <a:schemeClr val="bg1"/>
                </a:solidFill>
                <a:latin typeface="Arial" panose="020B0604020202020204" pitchFamily="34" charset="0"/>
                <a:cs typeface="Arial" panose="020B0604020202020204" pitchFamily="34" charset="0"/>
              </a:rPr>
            </a:br>
            <a:r>
              <a:rPr lang="en-US" b="1" dirty="0">
                <a:solidFill>
                  <a:schemeClr val="bg1"/>
                </a:solidFill>
                <a:latin typeface="Arial" panose="020B0604020202020204" pitchFamily="34" charset="0"/>
                <a:cs typeface="Arial" panose="020B0604020202020204" pitchFamily="34" charset="0"/>
              </a:rPr>
              <a:t>Volatility Insights </a:t>
            </a:r>
            <a:br>
              <a:rPr lang="en-US" dirty="0">
                <a:solidFill>
                  <a:schemeClr val="bg1"/>
                </a:solidFill>
                <a:latin typeface="Arial" panose="020B0604020202020204" pitchFamily="34" charset="0"/>
                <a:cs typeface="Arial" panose="020B0604020202020204" pitchFamily="34" charset="0"/>
              </a:rPr>
            </a:br>
            <a:r>
              <a:rPr lang="en-US" dirty="0">
                <a:solidFill>
                  <a:schemeClr val="bg1"/>
                </a:solidFill>
                <a:latin typeface="Arial" panose="020B0604020202020204" pitchFamily="34" charset="0"/>
                <a:cs typeface="Arial" panose="020B0604020202020204" pitchFamily="34" charset="0"/>
              </a:rPr>
              <a:t>High volatility observed during acquisition and delisting periods. High volatility observed during acquisition and delisting periods. High volatility observed during acquisition and delisting periods. High volatility observed during acquisition and delisting periods.</a:t>
            </a:r>
            <a:br>
              <a:rPr lang="en-US" dirty="0">
                <a:solidFill>
                  <a:schemeClr val="bg1"/>
                </a:solidFill>
                <a:latin typeface="Arial" panose="020B0604020202020204" pitchFamily="34" charset="0"/>
                <a:cs typeface="Arial" panose="020B0604020202020204" pitchFamily="34" charset="0"/>
              </a:rPr>
            </a:br>
            <a:br>
              <a:rPr lang="en-US" dirty="0">
                <a:solidFill>
                  <a:schemeClr val="bg1"/>
                </a:solidFill>
                <a:latin typeface="Arial" panose="020B0604020202020204" pitchFamily="34" charset="0"/>
                <a:cs typeface="Arial" panose="020B0604020202020204" pitchFamily="34" charset="0"/>
              </a:rPr>
            </a:br>
            <a:endParaRPr lang="en-US"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957702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43AAB-88B6-13B3-AD96-D076F38DE289}"/>
              </a:ext>
            </a:extLst>
          </p:cNvPr>
          <p:cNvSpPr>
            <a:spLocks noGrp="1"/>
          </p:cNvSpPr>
          <p:nvPr>
            <p:ph type="ctrTitle"/>
          </p:nvPr>
        </p:nvSpPr>
        <p:spPr>
          <a:xfrm>
            <a:off x="2400300" y="396239"/>
            <a:ext cx="8001000" cy="863601"/>
          </a:xfrm>
        </p:spPr>
        <p:txBody>
          <a:bodyPr/>
          <a:lstStyle/>
          <a:p>
            <a:pPr algn="ctr"/>
            <a:r>
              <a:rPr lang="en-US" b="1" dirty="0">
                <a:solidFill>
                  <a:schemeClr val="accent1"/>
                </a:solidFill>
                <a:latin typeface="Arial" panose="020B0604020202020204" pitchFamily="34" charset="0"/>
                <a:cs typeface="Arial" panose="020B0604020202020204" pitchFamily="34" charset="0"/>
              </a:rPr>
              <a:t>Dashboard Concept</a:t>
            </a:r>
          </a:p>
        </p:txBody>
      </p:sp>
      <p:sp>
        <p:nvSpPr>
          <p:cNvPr id="3" name="Subtitle 2">
            <a:extLst>
              <a:ext uri="{FF2B5EF4-FFF2-40B4-BE49-F238E27FC236}">
                <a16:creationId xmlns:a16="http://schemas.microsoft.com/office/drawing/2014/main" id="{A698D6F2-526A-7EED-161C-B725F5AC35A1}"/>
              </a:ext>
            </a:extLst>
          </p:cNvPr>
          <p:cNvSpPr>
            <a:spLocks noGrp="1"/>
          </p:cNvSpPr>
          <p:nvPr>
            <p:ph type="subTitle" idx="1"/>
          </p:nvPr>
        </p:nvSpPr>
        <p:spPr>
          <a:xfrm>
            <a:off x="1017746" y="2238587"/>
            <a:ext cx="10156508" cy="3837093"/>
          </a:xfrm>
        </p:spPr>
        <p:txBody>
          <a:bodyPr/>
          <a:lstStyle/>
          <a:p>
            <a:pPr marL="28575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Interactive time-period filters</a:t>
            </a:r>
          </a:p>
          <a:p>
            <a:pPr marL="28575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Stock price comparison charts</a:t>
            </a:r>
          </a:p>
          <a:p>
            <a:pPr marL="28575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Volume-based insights</a:t>
            </a:r>
          </a:p>
          <a:p>
            <a:r>
              <a:rPr lang="en-US" sz="1800" dirty="0">
                <a:solidFill>
                  <a:schemeClr val="bg1"/>
                </a:solidFill>
                <a:latin typeface="Arial" panose="020B0604020202020204" pitchFamily="34" charset="0"/>
                <a:cs typeface="Arial" panose="020B0604020202020204" pitchFamily="34" charset="0"/>
              </a:rPr>
              <a:t>A Python-based dashboard integrates multiple visual insights. A Python-based dashboard integrates multiple visual insights. A Python-based dashboard integrates multiple visual insights. A Python-based dashboard integrates multiple visual insights.</a:t>
            </a:r>
          </a:p>
          <a:p>
            <a:endParaRPr lang="en-US" dirty="0"/>
          </a:p>
        </p:txBody>
      </p:sp>
    </p:spTree>
    <p:extLst>
      <p:ext uri="{BB962C8B-B14F-4D97-AF65-F5344CB8AC3E}">
        <p14:creationId xmlns:p14="http://schemas.microsoft.com/office/powerpoint/2010/main" val="32626680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A28B4-0CDE-EDCB-2749-869349BAAB51}"/>
              </a:ext>
            </a:extLst>
          </p:cNvPr>
          <p:cNvSpPr>
            <a:spLocks noGrp="1"/>
          </p:cNvSpPr>
          <p:nvPr>
            <p:ph type="ctrTitle"/>
          </p:nvPr>
        </p:nvSpPr>
        <p:spPr>
          <a:xfrm>
            <a:off x="2289492" y="411479"/>
            <a:ext cx="8001000" cy="858521"/>
          </a:xfrm>
        </p:spPr>
        <p:txBody>
          <a:bodyPr/>
          <a:lstStyle/>
          <a:p>
            <a:pPr algn="ctr"/>
            <a:r>
              <a:rPr lang="en-US" b="1" dirty="0">
                <a:solidFill>
                  <a:schemeClr val="accent1"/>
                </a:solidFill>
                <a:latin typeface="Arial" panose="020B0604020202020204" pitchFamily="34" charset="0"/>
                <a:cs typeface="Arial" panose="020B0604020202020204" pitchFamily="34" charset="0"/>
              </a:rPr>
              <a:t>Key Insights</a:t>
            </a:r>
          </a:p>
        </p:txBody>
      </p:sp>
      <p:sp>
        <p:nvSpPr>
          <p:cNvPr id="3" name="Subtitle 2">
            <a:extLst>
              <a:ext uri="{FF2B5EF4-FFF2-40B4-BE49-F238E27FC236}">
                <a16:creationId xmlns:a16="http://schemas.microsoft.com/office/drawing/2014/main" id="{55E9C710-90A7-E9C4-0C1F-2D493363461C}"/>
              </a:ext>
            </a:extLst>
          </p:cNvPr>
          <p:cNvSpPr>
            <a:spLocks noGrp="1"/>
          </p:cNvSpPr>
          <p:nvPr>
            <p:ph type="subTitle" idx="1"/>
          </p:nvPr>
        </p:nvSpPr>
        <p:spPr>
          <a:xfrm>
            <a:off x="1131252" y="2045547"/>
            <a:ext cx="10237788" cy="3705013"/>
          </a:xfrm>
        </p:spPr>
        <p:txBody>
          <a:bodyPr/>
          <a:lstStyle/>
          <a:p>
            <a:pPr marL="342900" indent="-342900">
              <a:buFont typeface="Arial" panose="020B0604020202020204" pitchFamily="34" charset="0"/>
              <a:buChar char="•"/>
            </a:pPr>
            <a:r>
              <a:rPr lang="en-US" dirty="0">
                <a:solidFill>
                  <a:schemeClr val="bg1"/>
                </a:solidFill>
                <a:latin typeface="Arial" panose="020B0604020202020204" pitchFamily="34" charset="0"/>
                <a:cs typeface="Arial" panose="020B0604020202020204" pitchFamily="34" charset="0"/>
              </a:rPr>
              <a:t>Strong brand did not ensure stable stock growth</a:t>
            </a:r>
          </a:p>
          <a:p>
            <a:pPr marL="342900" indent="-342900">
              <a:buFont typeface="Arial" panose="020B0604020202020204" pitchFamily="34" charset="0"/>
              <a:buChar char="•"/>
            </a:pPr>
            <a:r>
              <a:rPr lang="en-US" dirty="0">
                <a:solidFill>
                  <a:schemeClr val="bg1"/>
                </a:solidFill>
                <a:latin typeface="Arial" panose="020B0604020202020204" pitchFamily="34" charset="0"/>
                <a:cs typeface="Arial" panose="020B0604020202020204" pitchFamily="34" charset="0"/>
              </a:rPr>
              <a:t>Volume spikes aligned with sharp price movements</a:t>
            </a:r>
          </a:p>
          <a:p>
            <a:pPr marL="342900" indent="-342900">
              <a:buFont typeface="Arial" panose="020B0604020202020204" pitchFamily="34" charset="0"/>
              <a:buChar char="•"/>
            </a:pPr>
            <a:endParaRPr lang="en-US" dirty="0">
              <a:solidFill>
                <a:schemeClr val="bg1"/>
              </a:solidFill>
              <a:latin typeface="Arial" panose="020B0604020202020204" pitchFamily="34" charset="0"/>
              <a:cs typeface="Arial" panose="020B0604020202020204" pitchFamily="34" charset="0"/>
            </a:endParaRPr>
          </a:p>
          <a:p>
            <a:r>
              <a:rPr lang="en-US" b="1" dirty="0">
                <a:solidFill>
                  <a:schemeClr val="bg1"/>
                </a:solidFill>
                <a:latin typeface="Arial" panose="020B0604020202020204" pitchFamily="34" charset="0"/>
                <a:cs typeface="Arial" panose="020B0604020202020204" pitchFamily="34" charset="0"/>
              </a:rPr>
              <a:t>Business Insights </a:t>
            </a:r>
            <a:br>
              <a:rPr lang="en-US" dirty="0">
                <a:solidFill>
                  <a:schemeClr val="bg1"/>
                </a:solidFill>
                <a:latin typeface="Arial" panose="020B0604020202020204" pitchFamily="34" charset="0"/>
                <a:cs typeface="Arial" panose="020B0604020202020204" pitchFamily="34" charset="0"/>
              </a:rPr>
            </a:br>
            <a:r>
              <a:rPr lang="en-US" dirty="0">
                <a:solidFill>
                  <a:schemeClr val="bg1"/>
                </a:solidFill>
                <a:latin typeface="Arial" panose="020B0604020202020204" pitchFamily="34" charset="0"/>
                <a:cs typeface="Arial" panose="020B0604020202020204" pitchFamily="34" charset="0"/>
              </a:rPr>
              <a:t>Twitter stock showed uncertainty before delisting. Twitter stock showed uncertainty before delisting. Twitter stock showed uncertainty before delisting. Twitter stock showed uncertainty before delisting.</a:t>
            </a:r>
          </a:p>
          <a:p>
            <a:endParaRPr lang="en-US" dirty="0"/>
          </a:p>
        </p:txBody>
      </p:sp>
    </p:spTree>
    <p:extLst>
      <p:ext uri="{BB962C8B-B14F-4D97-AF65-F5344CB8AC3E}">
        <p14:creationId xmlns:p14="http://schemas.microsoft.com/office/powerpoint/2010/main" val="30137520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08AC9-055F-1D73-9B52-2073CFBD4920}"/>
              </a:ext>
            </a:extLst>
          </p:cNvPr>
          <p:cNvSpPr>
            <a:spLocks noGrp="1"/>
          </p:cNvSpPr>
          <p:nvPr>
            <p:ph type="ctrTitle"/>
          </p:nvPr>
        </p:nvSpPr>
        <p:spPr>
          <a:xfrm>
            <a:off x="2279332" y="386081"/>
            <a:ext cx="8001000" cy="1574800"/>
          </a:xfrm>
        </p:spPr>
        <p:txBody>
          <a:bodyPr>
            <a:noAutofit/>
          </a:bodyPr>
          <a:lstStyle/>
          <a:p>
            <a:pPr algn="ctr"/>
            <a:r>
              <a:rPr lang="en-US" b="1" dirty="0">
                <a:solidFill>
                  <a:schemeClr val="accent1"/>
                </a:solidFill>
                <a:latin typeface="Arial" panose="020B0604020202020204" pitchFamily="34" charset="0"/>
                <a:cs typeface="Arial" panose="020B0604020202020204" pitchFamily="34" charset="0"/>
              </a:rPr>
              <a:t>Business Interpretation</a:t>
            </a:r>
          </a:p>
        </p:txBody>
      </p:sp>
      <p:sp>
        <p:nvSpPr>
          <p:cNvPr id="3" name="Subtitle 2">
            <a:extLst>
              <a:ext uri="{FF2B5EF4-FFF2-40B4-BE49-F238E27FC236}">
                <a16:creationId xmlns:a16="http://schemas.microsoft.com/office/drawing/2014/main" id="{C2B2BAC1-8DF5-0214-CBE1-2AE26D6FDDEE}"/>
              </a:ext>
            </a:extLst>
          </p:cNvPr>
          <p:cNvSpPr>
            <a:spLocks noGrp="1"/>
          </p:cNvSpPr>
          <p:nvPr>
            <p:ph type="subTitle" idx="1"/>
          </p:nvPr>
        </p:nvSpPr>
        <p:spPr>
          <a:xfrm>
            <a:off x="1039812" y="2868507"/>
            <a:ext cx="10217468" cy="3359573"/>
          </a:xfrm>
        </p:spPr>
        <p:txBody>
          <a:bodyPr/>
          <a:lstStyle/>
          <a:p>
            <a:pPr marL="342900" indent="-34290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Market sentiment plays a key role</a:t>
            </a:r>
          </a:p>
          <a:p>
            <a:pPr marL="342900" indent="-34290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Stock performance impacted by external events</a:t>
            </a:r>
          </a:p>
          <a:p>
            <a:br>
              <a:rPr lang="en-US" dirty="0"/>
            </a:br>
            <a:endParaRPr lang="en-US" dirty="0"/>
          </a:p>
        </p:txBody>
      </p:sp>
    </p:spTree>
    <p:extLst>
      <p:ext uri="{BB962C8B-B14F-4D97-AF65-F5344CB8AC3E}">
        <p14:creationId xmlns:p14="http://schemas.microsoft.com/office/powerpoint/2010/main" val="26843952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C003E-E446-9397-DFB0-DFD88354121A}"/>
              </a:ext>
            </a:extLst>
          </p:cNvPr>
          <p:cNvSpPr>
            <a:spLocks noGrp="1"/>
          </p:cNvSpPr>
          <p:nvPr>
            <p:ph type="ctrTitle"/>
          </p:nvPr>
        </p:nvSpPr>
        <p:spPr>
          <a:xfrm>
            <a:off x="2268220" y="452119"/>
            <a:ext cx="8001000" cy="929641"/>
          </a:xfrm>
        </p:spPr>
        <p:txBody>
          <a:bodyPr/>
          <a:lstStyle/>
          <a:p>
            <a:pPr algn="ctr"/>
            <a:r>
              <a:rPr lang="en-US" b="1" dirty="0">
                <a:solidFill>
                  <a:schemeClr val="accent1"/>
                </a:solidFill>
                <a:latin typeface="Arial" panose="020B0604020202020204" pitchFamily="34" charset="0"/>
                <a:cs typeface="Arial" panose="020B0604020202020204" pitchFamily="34" charset="0"/>
              </a:rPr>
              <a:t>Limitations</a:t>
            </a:r>
          </a:p>
        </p:txBody>
      </p:sp>
      <p:sp>
        <p:nvSpPr>
          <p:cNvPr id="3" name="Subtitle 2">
            <a:extLst>
              <a:ext uri="{FF2B5EF4-FFF2-40B4-BE49-F238E27FC236}">
                <a16:creationId xmlns:a16="http://schemas.microsoft.com/office/drawing/2014/main" id="{620F2327-92BF-45B2-DEA2-B8572E757132}"/>
              </a:ext>
            </a:extLst>
          </p:cNvPr>
          <p:cNvSpPr>
            <a:spLocks noGrp="1"/>
          </p:cNvSpPr>
          <p:nvPr>
            <p:ph type="subTitle" idx="1"/>
          </p:nvPr>
        </p:nvSpPr>
        <p:spPr>
          <a:xfrm>
            <a:off x="1049972" y="2208107"/>
            <a:ext cx="10207308" cy="3410373"/>
          </a:xfrm>
        </p:spPr>
        <p:txBody>
          <a:bodyPr/>
          <a:lstStyle/>
          <a:p>
            <a:pPr marL="28575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Only historical price data used</a:t>
            </a:r>
          </a:p>
          <a:p>
            <a:pPr marL="28575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No real-time or sentiment data included</a:t>
            </a:r>
            <a:br>
              <a:rPr lang="en-US" sz="1800" dirty="0">
                <a:solidFill>
                  <a:schemeClr val="bg1"/>
                </a:solidFill>
                <a:latin typeface="Arial" panose="020B0604020202020204" pitchFamily="34" charset="0"/>
                <a:cs typeface="Arial" panose="020B0604020202020204" pitchFamily="34" charset="0"/>
              </a:rPr>
            </a:br>
            <a:endParaRPr lang="en-US" sz="1800" dirty="0">
              <a:solidFill>
                <a:schemeClr val="bg1"/>
              </a:solidFill>
              <a:latin typeface="Arial" panose="020B0604020202020204" pitchFamily="34" charset="0"/>
              <a:cs typeface="Arial" panose="020B0604020202020204" pitchFamily="34" charset="0"/>
            </a:endParaRPr>
          </a:p>
          <a:p>
            <a:r>
              <a:rPr lang="en-US" sz="1800" dirty="0">
                <a:solidFill>
                  <a:schemeClr val="bg1"/>
                </a:solidFill>
                <a:latin typeface="Arial" panose="020B0604020202020204" pitchFamily="34" charset="0"/>
                <a:cs typeface="Arial" panose="020B0604020202020204" pitchFamily="34" charset="0"/>
              </a:rPr>
              <a:t>No external macroeconomic factors considered. No external macroeconomic factors considered. No external macroeconomic factors considered. No external macroeconomic factors considered.</a:t>
            </a:r>
          </a:p>
          <a:p>
            <a:endParaRPr lang="en-US" dirty="0"/>
          </a:p>
        </p:txBody>
      </p:sp>
    </p:spTree>
    <p:extLst>
      <p:ext uri="{BB962C8B-B14F-4D97-AF65-F5344CB8AC3E}">
        <p14:creationId xmlns:p14="http://schemas.microsoft.com/office/powerpoint/2010/main" val="40452359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E0A51-5A75-034C-5B05-FA20D23E798D}"/>
              </a:ext>
            </a:extLst>
          </p:cNvPr>
          <p:cNvSpPr>
            <a:spLocks noGrp="1"/>
          </p:cNvSpPr>
          <p:nvPr>
            <p:ph type="ctrTitle"/>
          </p:nvPr>
        </p:nvSpPr>
        <p:spPr>
          <a:xfrm>
            <a:off x="2380932" y="391159"/>
            <a:ext cx="8001000" cy="909321"/>
          </a:xfrm>
        </p:spPr>
        <p:txBody>
          <a:bodyPr/>
          <a:lstStyle/>
          <a:p>
            <a:pPr algn="ctr"/>
            <a:r>
              <a:rPr lang="en-US" b="1" dirty="0">
                <a:solidFill>
                  <a:schemeClr val="accent1"/>
                </a:solidFill>
                <a:latin typeface="Arial" panose="020B0604020202020204" pitchFamily="34" charset="0"/>
                <a:cs typeface="Arial" panose="020B0604020202020204" pitchFamily="34" charset="0"/>
              </a:rPr>
              <a:t>Future Scope</a:t>
            </a:r>
          </a:p>
        </p:txBody>
      </p:sp>
      <p:sp>
        <p:nvSpPr>
          <p:cNvPr id="3" name="Subtitle 2">
            <a:extLst>
              <a:ext uri="{FF2B5EF4-FFF2-40B4-BE49-F238E27FC236}">
                <a16:creationId xmlns:a16="http://schemas.microsoft.com/office/drawing/2014/main" id="{1535F484-FE4A-AC64-177A-694735082D25}"/>
              </a:ext>
            </a:extLst>
          </p:cNvPr>
          <p:cNvSpPr>
            <a:spLocks noGrp="1"/>
          </p:cNvSpPr>
          <p:nvPr>
            <p:ph type="subTitle" idx="1"/>
          </p:nvPr>
        </p:nvSpPr>
        <p:spPr>
          <a:xfrm>
            <a:off x="836612" y="2218267"/>
            <a:ext cx="10827068" cy="3857413"/>
          </a:xfrm>
        </p:spPr>
        <p:txBody>
          <a:bodyPr/>
          <a:lstStyle/>
          <a:p>
            <a:pPr marL="342900" indent="-34290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Machine learning-based price prediction</a:t>
            </a:r>
          </a:p>
          <a:p>
            <a:pPr marL="342900" indent="-34290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Sentiment analysis using Twitter posts</a:t>
            </a:r>
          </a:p>
          <a:p>
            <a:pPr marL="342900" indent="-34290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Comparative market analysis</a:t>
            </a:r>
            <a:br>
              <a:rPr lang="en-US" sz="1800" dirty="0">
                <a:solidFill>
                  <a:schemeClr val="bg1"/>
                </a:solidFill>
                <a:latin typeface="Arial" panose="020B0604020202020204" pitchFamily="34" charset="0"/>
                <a:cs typeface="Arial" panose="020B0604020202020204" pitchFamily="34" charset="0"/>
              </a:rPr>
            </a:br>
            <a:endParaRPr lang="en-US" sz="1800" dirty="0">
              <a:solidFill>
                <a:schemeClr val="bg1"/>
              </a:solidFill>
              <a:latin typeface="Arial" panose="020B0604020202020204" pitchFamily="34" charset="0"/>
              <a:cs typeface="Arial" panose="020B0604020202020204" pitchFamily="34" charset="0"/>
            </a:endParaRPr>
          </a:p>
          <a:p>
            <a:r>
              <a:rPr lang="en-US" sz="1800" dirty="0">
                <a:solidFill>
                  <a:schemeClr val="bg1"/>
                </a:solidFill>
                <a:latin typeface="Arial" panose="020B0604020202020204" pitchFamily="34" charset="0"/>
                <a:cs typeface="Arial" panose="020B0604020202020204" pitchFamily="34" charset="0"/>
              </a:rPr>
              <a:t>Machine learning models can predict future trends. Machine learning models can predict future trends. Machine learning models can predict future trends. Machine learning models can predict future trends.</a:t>
            </a:r>
          </a:p>
          <a:p>
            <a:endParaRPr lang="en-US" dirty="0"/>
          </a:p>
        </p:txBody>
      </p:sp>
    </p:spTree>
    <p:extLst>
      <p:ext uri="{BB962C8B-B14F-4D97-AF65-F5344CB8AC3E}">
        <p14:creationId xmlns:p14="http://schemas.microsoft.com/office/powerpoint/2010/main" val="36737964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BA730-7BD8-3902-52B4-E2DD8ECFA7E2}"/>
              </a:ext>
            </a:extLst>
          </p:cNvPr>
          <p:cNvSpPr>
            <a:spLocks noGrp="1"/>
          </p:cNvSpPr>
          <p:nvPr>
            <p:ph type="ctrTitle"/>
          </p:nvPr>
        </p:nvSpPr>
        <p:spPr>
          <a:xfrm>
            <a:off x="2278380" y="472439"/>
            <a:ext cx="8001000" cy="726441"/>
          </a:xfrm>
        </p:spPr>
        <p:txBody>
          <a:bodyPr>
            <a:noAutofit/>
          </a:bodyPr>
          <a:lstStyle/>
          <a:p>
            <a:pPr algn="ctr"/>
            <a:r>
              <a:rPr lang="en-US" b="1" dirty="0">
                <a:solidFill>
                  <a:schemeClr val="accent1"/>
                </a:solidFill>
                <a:latin typeface="Arial" panose="020B0604020202020204" pitchFamily="34" charset="0"/>
                <a:cs typeface="Arial" panose="020B0604020202020204" pitchFamily="34" charset="0"/>
              </a:rPr>
              <a:t>Conclusion</a:t>
            </a:r>
          </a:p>
        </p:txBody>
      </p:sp>
      <p:sp>
        <p:nvSpPr>
          <p:cNvPr id="3" name="Subtitle 2">
            <a:extLst>
              <a:ext uri="{FF2B5EF4-FFF2-40B4-BE49-F238E27FC236}">
                <a16:creationId xmlns:a16="http://schemas.microsoft.com/office/drawing/2014/main" id="{986DA670-1125-ECDD-C1E9-8AD056DB1D4D}"/>
              </a:ext>
            </a:extLst>
          </p:cNvPr>
          <p:cNvSpPr>
            <a:spLocks noGrp="1"/>
          </p:cNvSpPr>
          <p:nvPr>
            <p:ph type="subTitle" idx="1"/>
          </p:nvPr>
        </p:nvSpPr>
        <p:spPr>
          <a:xfrm>
            <a:off x="816292" y="1730587"/>
            <a:ext cx="10847388" cy="4538133"/>
          </a:xfrm>
        </p:spPr>
        <p:txBody>
          <a:bodyPr>
            <a:noAutofit/>
          </a:bodyPr>
          <a:lstStyle/>
          <a:p>
            <a:pPr marL="28575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Twitter stock showed long-term volatility</a:t>
            </a:r>
          </a:p>
          <a:p>
            <a:pPr marL="28575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Python-based analysis provided clear insights</a:t>
            </a:r>
          </a:p>
          <a:p>
            <a:pPr marL="28575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Twitter stock showed unstable trends</a:t>
            </a:r>
          </a:p>
          <a:p>
            <a:pPr marL="28575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Significant fluctuations before delisting</a:t>
            </a:r>
          </a:p>
          <a:p>
            <a:pPr marL="28575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Data-driven insights achieved</a:t>
            </a:r>
          </a:p>
          <a:p>
            <a:r>
              <a:rPr lang="en-US" sz="1800" dirty="0">
                <a:solidFill>
                  <a:schemeClr val="bg1"/>
                </a:solidFill>
                <a:latin typeface="Arial" panose="020B0604020202020204" pitchFamily="34" charset="0"/>
                <a:cs typeface="Arial" panose="020B0604020202020204" pitchFamily="34" charset="0"/>
              </a:rPr>
              <a:t>The analysis provides a comprehensive understanding of Twitter's stock lifecycle. The analysis provides a comprehensive understanding of Twitter's stock lifecycle. The analysis provides a comprehensive understanding of Twitter's stock lifecycle. The analysis provides a comprehensive understanding of Twitter's stock lifecycle.</a:t>
            </a:r>
            <a:br>
              <a:rPr lang="en-US" sz="1800" dirty="0">
                <a:solidFill>
                  <a:schemeClr val="bg1"/>
                </a:solidFill>
                <a:latin typeface="Arial" panose="020B0604020202020204" pitchFamily="34" charset="0"/>
                <a:cs typeface="Arial" panose="020B0604020202020204" pitchFamily="34" charset="0"/>
              </a:rPr>
            </a:br>
            <a:br>
              <a:rPr lang="en-US" sz="1800" dirty="0">
                <a:solidFill>
                  <a:schemeClr val="bg1"/>
                </a:solidFill>
                <a:latin typeface="Arial" panose="020B0604020202020204" pitchFamily="34" charset="0"/>
                <a:cs typeface="Arial" panose="020B0604020202020204" pitchFamily="34" charset="0"/>
              </a:rPr>
            </a:br>
            <a:r>
              <a:rPr lang="en-US" sz="1800" b="1" dirty="0">
                <a:solidFill>
                  <a:schemeClr val="bg1"/>
                </a:solidFill>
                <a:latin typeface="Arial" panose="020B0604020202020204" pitchFamily="34" charset="0"/>
                <a:cs typeface="Arial" panose="020B0604020202020204" pitchFamily="34" charset="0"/>
              </a:rPr>
              <a:t>Client Value </a:t>
            </a:r>
            <a:br>
              <a:rPr lang="en-US" sz="1800" dirty="0">
                <a:solidFill>
                  <a:schemeClr val="bg1"/>
                </a:solidFill>
                <a:latin typeface="Arial" panose="020B0604020202020204" pitchFamily="34" charset="0"/>
                <a:cs typeface="Arial" panose="020B0604020202020204" pitchFamily="34" charset="0"/>
              </a:rPr>
            </a:br>
            <a:r>
              <a:rPr lang="en-US" sz="1800" dirty="0">
                <a:solidFill>
                  <a:schemeClr val="bg1"/>
                </a:solidFill>
                <a:latin typeface="Arial" panose="020B0604020202020204" pitchFamily="34" charset="0"/>
                <a:cs typeface="Arial" panose="020B0604020202020204" pitchFamily="34" charset="0"/>
              </a:rPr>
              <a:t>Helps investors understand Twitter stock behavior. Helps investors understand Twitter stock behavior. Helps investors understand Twitter stock behavior. Helps investors understand Twitter stock behavior.</a:t>
            </a:r>
          </a:p>
        </p:txBody>
      </p:sp>
    </p:spTree>
    <p:extLst>
      <p:ext uri="{BB962C8B-B14F-4D97-AF65-F5344CB8AC3E}">
        <p14:creationId xmlns:p14="http://schemas.microsoft.com/office/powerpoint/2010/main" val="10499223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Thank You Slide - Blue Business Profile Template - SlideModel">
            <a:extLst>
              <a:ext uri="{FF2B5EF4-FFF2-40B4-BE49-F238E27FC236}">
                <a16:creationId xmlns:a16="http://schemas.microsoft.com/office/drawing/2014/main" id="{94A17461-7CF8-815F-3257-56DF536544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536253"/>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128</TotalTime>
  <Words>1615</Words>
  <Application>Microsoft Office PowerPoint</Application>
  <PresentationFormat>Widescreen</PresentationFormat>
  <Paragraphs>108</Paragraphs>
  <Slides>27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Century Gothic</vt:lpstr>
      <vt:lpstr>Wingdings 3</vt:lpstr>
      <vt:lpstr>Slice</vt:lpstr>
      <vt:lpstr>Twitter Stock Market Analysis </vt:lpstr>
      <vt:lpstr>Agenda</vt:lpstr>
      <vt:lpstr>Introduction</vt:lpstr>
      <vt:lpstr>Dataset Description</vt:lpstr>
      <vt:lpstr>Objective</vt:lpstr>
      <vt:lpstr>Dataset Overview</vt:lpstr>
      <vt:lpstr>Tools &amp; Technologies</vt:lpstr>
      <vt:lpstr>Methodology</vt:lpstr>
      <vt:lpstr>Data Cleaning</vt:lpstr>
      <vt:lpstr>Statistical Analysis</vt:lpstr>
      <vt:lpstr>Close Price Trend Analysis</vt:lpstr>
      <vt:lpstr>Open Price Trend Analysis</vt:lpstr>
      <vt:lpstr>High Price Trend Analysis</vt:lpstr>
      <vt:lpstr>Low Price Trend Analysis</vt:lpstr>
      <vt:lpstr>Trading Volume Analysis</vt:lpstr>
      <vt:lpstr>Trend Observations</vt:lpstr>
      <vt:lpstr>Timeline Analysis</vt:lpstr>
      <vt:lpstr>Analysis</vt:lpstr>
      <vt:lpstr>PowerPoint Presentation</vt:lpstr>
      <vt:lpstr>PowerPoint Presentation</vt:lpstr>
      <vt:lpstr>Dashboard Concept</vt:lpstr>
      <vt:lpstr>Key Insights</vt:lpstr>
      <vt:lpstr>Business Interpretation</vt:lpstr>
      <vt:lpstr>Limitations</vt:lpstr>
      <vt:lpstr>Future Scope</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Twitter Stock Market Analysis </dc:title>
  <dc:creator>pc</dc:creator>
  <cp:lastModifiedBy>pc</cp:lastModifiedBy>
  <cp:revision>72</cp:revision>
  <dcterms:created xsi:type="dcterms:W3CDTF">2026-02-13T13:54:04Z</dcterms:created>
  <dcterms:modified xsi:type="dcterms:W3CDTF">2026-02-13T16:02:12Z</dcterms:modified>
</cp:coreProperties>
</file>